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7753d41bb24cc1" /><Relationship Type="http://schemas.openxmlformats.org/officeDocument/2006/relationships/extended-properties" Target="/docProps/app.xml" Id="R95cbfda2d8bd4404" /><Relationship Type="http://schemas.openxmlformats.org/officeDocument/2006/relationships/officeDocument" Target="/ppt/presentation.xml" Id="R6436b63f232c47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500820f4c4318"/>
  </p:sldMasterIdLst>
  <p:notesMasterIdLst>
    <p:notesMasterId xmlns:r="http://schemas.openxmlformats.org/officeDocument/2006/relationships" r:id="R121a2d5539e24564"/>
  </p:notesMasterIdLst>
  <p:sldIdLst>
    <p:sldId xmlns:r="http://schemas.openxmlformats.org/officeDocument/2006/relationships" id="256" r:id="R651c57fbae874035"/>
    <p:sldId xmlns:r="http://schemas.openxmlformats.org/officeDocument/2006/relationships" id="257" r:id="R3739bf5396a3437c"/>
    <p:sldId xmlns:r="http://schemas.openxmlformats.org/officeDocument/2006/relationships" id="258" r:id="Rabea05ea805e4772"/>
    <p:sldId xmlns:r="http://schemas.openxmlformats.org/officeDocument/2006/relationships" id="259" r:id="R35b8b8e66c9b46c7"/>
    <p:sldId xmlns:r="http://schemas.openxmlformats.org/officeDocument/2006/relationships" id="260" r:id="R79619326db2248d6"/>
    <p:sldId xmlns:r="http://schemas.openxmlformats.org/officeDocument/2006/relationships" id="261" r:id="R4e63afad53c04c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bdc71c2dd140a9" /><Relationship Type="http://schemas.openxmlformats.org/officeDocument/2006/relationships/slideMaster" Target="/ppt/slideMasters/slideMaster1.xml" Id="R770500820f4c4318" /><Relationship Type="http://schemas.openxmlformats.org/officeDocument/2006/relationships/notesMaster" Target="/ppt/notesMasters/notesMaster1.xml" Id="R121a2d5539e24564" /><Relationship Type="http://schemas.openxmlformats.org/officeDocument/2006/relationships/presProps" Target="/ppt/presProps.xml" Id="R9ae5adeae0854358" /><Relationship Type="http://schemas.openxmlformats.org/officeDocument/2006/relationships/tableStyles" Target="/ppt/tableStyles.xml" Id="R68412b395e974c06" /><Relationship Type="http://schemas.openxmlformats.org/officeDocument/2006/relationships/slide" Target="/ppt/slides/slide1.xml" Id="R651c57fbae874035" /><Relationship Type="http://schemas.openxmlformats.org/officeDocument/2006/relationships/slide" Target="/ppt/slides/slide2.xml" Id="R3739bf5396a3437c" /><Relationship Type="http://schemas.openxmlformats.org/officeDocument/2006/relationships/slide" Target="/ppt/slides/slide3.xml" Id="Rabea05ea805e4772" /><Relationship Type="http://schemas.openxmlformats.org/officeDocument/2006/relationships/slide" Target="/ppt/slides/slide4.xml" Id="R35b8b8e66c9b46c7" /><Relationship Type="http://schemas.openxmlformats.org/officeDocument/2006/relationships/slide" Target="/ppt/slides/slide5.xml" Id="R79619326db2248d6" /><Relationship Type="http://schemas.openxmlformats.org/officeDocument/2006/relationships/slide" Target="/ppt/slides/slide6.xml" Id="R4e63afad53c04c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7454b17d844b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cce39a12594306" /><Relationship Type="http://schemas.openxmlformats.org/officeDocument/2006/relationships/notesMaster" Target="/ppt/notesMasters/notesMaster1.xml" Id="Rf287d4426e6d42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97c814aeee481c" /><Relationship Type="http://schemas.openxmlformats.org/officeDocument/2006/relationships/notesMaster" Target="/ppt/notesMasters/notesMaster1.xml" Id="Rb184939bca3c45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ecc97940054e32" /><Relationship Type="http://schemas.openxmlformats.org/officeDocument/2006/relationships/notesMaster" Target="/ppt/notesMasters/notesMaster1.xml" Id="Rdc2863112256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ebc7b6aa37406a" /><Relationship Type="http://schemas.openxmlformats.org/officeDocument/2006/relationships/notesMaster" Target="/ppt/notesMasters/notesMaster1.xml" Id="Rcfaac4c336c1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11aae01a8e47a2" /><Relationship Type="http://schemas.openxmlformats.org/officeDocument/2006/relationships/notesMaster" Target="/ppt/notesMasters/notesMaster1.xml" Id="R873637003ceb41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0c1c7b35f54d8a" /><Relationship Type="http://schemas.openxmlformats.org/officeDocument/2006/relationships/notesMaster" Target="/ppt/notesMasters/notesMaster1.xml" Id="R016bbe334d94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Presento un proyecto que usa BloodMNIST para estudiar cómo algunas decisiones de entrenamiento cambian el comportamiento de una CNN. La imagen reúne ejemplos del split train y muestra la variedad morfológica de las ocho clases. El objetivo fue comparar configuraciones con una pregunta y condiciones definidas. Fuente visual: outputs/eda/train_examples.png.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BloodMNIST contiene 17,092 imágenes distribuidas en ocho clases y ya ofrece particiones oficiales. El EDA identificó diferencias en la frecuencia de clases, por lo que además de la exactitud global observamos métricas macro y métricas por clase. La pregunta del proyecto se centra en cómo las configuraciones cambian tanto el rendimiento como la evolución de las pérdidas. Fuentes: README.md y outputs/eda/dataset_summary.json.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funciona como referencia. A2 agrega BatchNorm; A3 combina BatchNorm con Dropout; D1 aísla Dropout sin BatchNorm; y C1 reduce la tasa de aprendizaje. Se mantuvieron constantes semilla 42, CPU, batch 128 y máximo 40 épocas. El checkpoint se selecciona por menor pérdida de validación. B1, early stopping, quedó como registro histórico y no se incluye en la comparación activa. Fuente: configs/experiments.json y outputs/runs/comparison.json.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tabla resume el macro-F1 de validation para cada configuración. A2 alcanzó 94.66% y A3 94.82%, una diferencia muy pequeña. Ambas superan claramente A1, mientras que D1 queda prácticamente junto a la línea base. C1 fue menor después de 40 épocas. Estos son resultados de una corrida por escenario, así que describen esta ejecución y no una regla universal. Fuente: outputs/runs/comparison.json.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Tras escoger el modelo mediante validation, se evaluó A3 una sola vez en test. Obtuvo 95.15% de exactitud y 94.45% de macro-F1. La tabla muestra recall por clase. Los valores más bajos aparecen en granulocitos inmaduros, basófilos y monocitos. La matriz registra errores recurrentes entre esos grupos, especialmente granulocitos inmaduros y monocitos. Los otros escenarios no se midieron en test, así que esta diapositiva no los compara. Fuente: outputs/final_evaluation/test_metrics.json.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la evidencia apunta a que BatchNorm fue el cambio asociado con la mejora más marcada frente a la base. A3 tuvo la mejor validación y un resultado final de test consistente, pero su ventaja sobre A2 fue pequeña y no evaluamos los otros modelos en test. Solo hubo una corrida por configuración con semilla 42, por lo que no podemos medir variación entre ejecuciones. La conclusión queda limitada a este diseño y estos runs. Fuente: outputs/runs/comparison.json y outputs/final_evaluation/test_metrics.json.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e988ade0f47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871bfb94440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f839324854c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35c00b7a543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d9c6b81a946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3798488984b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0AFAFB-8C8B-4D1F-AAA6-949910106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E3E69D-3F46-4781-B060-F48653A58D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5F33A5-83A8-4B09-860B-AFD2DDBCA3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8D2657-3E5F-4F2C-AF23-65581577F6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EDD41C-417C-4B46-AA6D-7BC5F7159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2BBCFD-541C-4E24-8730-F7177B784D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E8F299-8310-4AA1-94BE-9E926352AA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CBD137-30FB-4533-8864-2DD942BB2E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A2E135-87AA-43CC-A81A-900DA2F177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B05D00-7738-4989-B980-D37CDA7584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5128da6c6e4813" /><Relationship Type="http://schemas.openxmlformats.org/officeDocument/2006/relationships/slideLayout" Target="/ppt/slideLayouts/slideLayout1.xml" Id="R566da57c75544d69" /><Relationship Type="http://schemas.openxmlformats.org/officeDocument/2006/relationships/slideLayout" Target="/ppt/slideLayouts/slideLayout2.xml" Id="R6164289525864603" /><Relationship Type="http://schemas.openxmlformats.org/officeDocument/2006/relationships/slideLayout" Target="/ppt/slideLayouts/slideLayout3.xml" Id="R86165527414144c2" /><Relationship Type="http://schemas.openxmlformats.org/officeDocument/2006/relationships/slideLayout" Target="/ppt/slideLayouts/slideLayout4.xml" Id="Rc64dfa317c2d4910" /><Relationship Type="http://schemas.openxmlformats.org/officeDocument/2006/relationships/slideLayout" Target="/ppt/slideLayouts/slideLayout5.xml" Id="R3e9165c3aff34380" /><Relationship Type="http://schemas.openxmlformats.org/officeDocument/2006/relationships/slideLayout" Target="/ppt/slideLayouts/slideLayout6.xml" Id="R0c2eef5c38a1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da57c75544d69"/>
    <p:sldLayoutId xmlns:r="http://schemas.openxmlformats.org/officeDocument/2006/relationships" id="2147483650" r:id="R6164289525864603"/>
    <p:sldLayoutId xmlns:r="http://schemas.openxmlformats.org/officeDocument/2006/relationships" id="2147483651" r:id="R86165527414144c2"/>
    <p:sldLayoutId xmlns:r="http://schemas.openxmlformats.org/officeDocument/2006/relationships" id="2147483652" r:id="Rc64dfa317c2d4910"/>
    <p:sldLayoutId xmlns:r="http://schemas.openxmlformats.org/officeDocument/2006/relationships" id="2147483653" r:id="R3e9165c3aff34380"/>
    <p:sldLayoutId xmlns:r="http://schemas.openxmlformats.org/officeDocument/2006/relationships" id="2147483654" r:id="R0c2eef5c38a1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c71090a544ad5" /><Relationship Type="http://schemas.openxmlformats.org/officeDocument/2006/relationships/image" Target="/ppt/media/image.png" Id="R967244f55a724ba8" /><Relationship Type="http://schemas.openxmlformats.org/officeDocument/2006/relationships/notesSlide" Target="/ppt/notesSlides/notesSlide1.xml" Id="R18bdaf9bfba44a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6f50429d14424" /><Relationship Type="http://schemas.openxmlformats.org/officeDocument/2006/relationships/notesSlide" Target="/ppt/notesSlides/notesSlide2.xml" Id="R062aab7f793541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e3a4830f549f9" /><Relationship Type="http://schemas.openxmlformats.org/officeDocument/2006/relationships/notesSlide" Target="/ppt/notesSlides/notesSlide3.xml" Id="Rbce9e3de4b8c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1adf7021fa4bfa" /><Relationship Type="http://schemas.openxmlformats.org/officeDocument/2006/relationships/notesSlide" Target="/ppt/notesSlides/notesSlide4.xml" Id="R2693fa30979440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aef3d2d124716" /><Relationship Type="http://schemas.openxmlformats.org/officeDocument/2006/relationships/notesSlide" Target="/ppt/notesSlides/notesSlide5.xml" Id="Ree7e71c8f69243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037291eb64d75" /><Relationship Type="http://schemas.openxmlformats.org/officeDocument/2006/relationships/notesSlide" Target="/ppt/notesSlides/notesSlide6.xml" Id="R3b5e243744604b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FC0CE-589A-4678-A5DF-C6B30093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8BB18-C701-4886-961D-97D6A614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FD0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FD0C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D0C3"/>
                </a:solidFill>
                <a:latin typeface="Arial"/>
                <a:ea typeface="Arial"/>
                <a:cs typeface="Arial"/>
              </a:rPr>
              <a:t>PROYECTO DE DEEP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4FFE1-C546-4157-9A68-A50A8932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CNN para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BloodMNIST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2D537-196A-4AB1-B973-8B70AFF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CE8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DCE8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8E6"/>
                </a:solidFill>
                <a:latin typeface="Arial"/>
                <a:ea typeface="Arial"/>
                <a:cs typeface="Arial"/>
              </a:rPr>
              <a:t>Experimentos controlados con BatchNorm, Dropout y tasa de aprendizaje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701B1-9D4E-44E2-AF7E-74EA0DA4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7C1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7C1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C1C0"/>
                </a:solidFill>
                <a:latin typeface="Arial"/>
                <a:ea typeface="Arial"/>
                <a:cs typeface="Arial"/>
              </a:rPr>
              <a:t>Presentación de 5 minutos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61AC1-9EA1-4A4F-8171-479102616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244f55a724ba8"/>
          <a:srcRect xmlns:a="http://schemas.openxmlformats.org/drawingml/2006/main" l="0" t="26661" r="0" b="266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0" y="666750"/>
            <a:ext cx="3638550" cy="5448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11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9E707-6004-477C-9C82-AC342A10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5686A-A1F3-4D1C-8FD5-149CF22C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BloodMNIST y pregunta de investigación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8418D-B947-41ED-947E-BC470272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Un problema de clasificación microscópica con ocho clases celulares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7BE36-8001-4D6F-89AA-DBDB9772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45680-C049-44BD-9A7D-0D876428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4103E-B679-42B5-B98F-16D62B39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8FCC5-B718-48AD-8E03-C50252C6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>
            <a:defPPr algn="l">
              <a:defRPr sz="40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17,092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FF9DA-15EB-49A8-880E-0E398024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imágenes · RGB · 28 × 28 píxeles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BB766-3807-472C-A09B-F1AC56BA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Train: 11,959, validación: 1,712, test: 3,421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4BEAD-76A5-4F2C-AFE1-33170C72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905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El EDA mostró desbalance: neutrófilos son la clase más numerosa en train; basófilos y linfocitos, de las menos representadas.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1EC9B-0C89-4A5E-AF8B-F8C42A31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190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DE2A1-7D24-4D6D-8604-4AB2D82D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5540B-ACA3-4375-914A-0BF173F5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05"/>
          </a:bodyPr>
          <a:lstStyle xmlns:a="http://schemas.openxmlformats.org/drawingml/2006/main">
            <a:defPPr algn="l">
              <a:defRPr sz="22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¿Cómo influyen las configuraciones de la CNN en el desempeño de clasificación y en la evolución de las pérdidas de entrenamiento y validación?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7160B-B10A-4A16-AA59-51715DA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Hipótesis general: BatchNorm, Dropout y la tasa de aprendizaje pueden producir diferencias observables, aunque no todas las modificaciones tienen que mejorar las métricas.</a:t>
            </a:r>
          </a:p>
        </p:txBody>
      </p:sp>
    </p:spTree>
    <p:extLst>
      <p:ext uri="{BB962C8B-B14F-4D97-AF65-F5344CB8AC3E}">
        <p14:creationId xmlns:p14="http://schemas.microsoft.com/office/powerpoint/2010/main" val="1040890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C73A87-B61C-48BC-80CB-3CE5FE6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48A40-5977-4980-8499-2B66CA21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Diseño experimental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048C7-43E8-4B4C-B9DE-BE4F59C7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Cinco escenarios activos · un factor de interés por comparación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89B06-5DE6-4EA8-B4C5-001B2852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5E5EE-F12A-475C-A734-CFB41745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3119A-A26E-44E3-AAE6-B6DCF71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90071-8AC4-48BE-952E-DAB66FC1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381BC-3108-4F5E-B8A4-B5411EFF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57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C7F6B-B616-4A40-A926-E5E547F1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Cambio estudiado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95645-2618-4D3E-B2F7-AE053BBD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2F08C-E0F1-4788-A236-52F9BC7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FBBC8-6E8B-4E13-A1A0-19D572B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76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E1FD3-05EE-469C-AC00-FB32769F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Referencia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FAD92-8954-4307-8F6C-576F0C18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B2A07-316C-4B2C-862E-30E617ED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E20FB-EC54-43A6-B22D-E1CCD483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+ BatchNorm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22F6E-5E36-4013-93FA-89C3F632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BatchNorm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430FC-90DC-4E7B-8A41-8E1EE12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AAD50-94B8-4AC9-BDAD-B6EBBAC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60277-3276-4C1C-967F-09A00AC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575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+ BatchNorm + Dropout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A4DDC-4ED5-4E6E-B5E3-ECD8442F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Dropout p = 0.3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27DEA-F4D2-4509-8EA4-EC8400C7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66209-B6F4-4D36-B5B6-E7053B41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0FD6F-F2B7-4F85-A4C1-070B4899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481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+ Dropout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19E67-4E43-4BC6-BF4D-162C748E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Dropout p = 0.3, sin BatchNorm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29038-87F0-4433-822F-183B2580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989A6-0D1D-48B3-93E7-F51C5AA5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D13AB-C0ED-46F3-BFEB-9B30181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38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CNN 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97536-CAAC-4EC3-89D7-7D40262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Tasa de aprendizaje 0.0003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38C5E4-F76A-42E0-8D58-211C4249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7942A-7BBB-4184-9483-AF12C1B2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Condiciones comunes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9C1669-8FA4-4CA2-8EB7-DDD99B7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77"/>
          </a:bodyPr>
          <a:lstStyle xmlns:a="http://schemas.openxmlformats.org/drawingml/2006/main"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Semilla 42, CPU, batch 128, hasta 40 épocas, AdamW, checkpoint por menor pérdida de validación</a:t>
            </a:r>
          </a:p>
        </p:txBody>
      </p:sp>
    </p:spTree>
    <p:extLst>
      <p:ext uri="{BB962C8B-B14F-4D97-AF65-F5344CB8AC3E}">
        <p14:creationId xmlns:p14="http://schemas.microsoft.com/office/powerpoint/2010/main" val="900419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F22AD-35B4-4633-BA0B-9670B3BD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D6943-A786-4A83-997A-14A72DB0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Validación: A2 y A3 lideran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E96CF-7E54-4B28-805E-6B39D1F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Macro-F1 (%) en el checkpoint seleccionado por menor pérdida de validación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E9313-C286-46A8-B0B2-E4D8F7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8BEBB-FDE1-489B-A61D-66F4C9CA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1AEBB-E833-4126-B85E-EF28212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7F495-C730-491C-B6B7-7E845A8D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ESCENARIO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4DB52-E8B4-44A7-B6EA-E0F31B0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81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CC8C6-D31E-4CA5-A54F-BC06C04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FF3AE-C636-47AB-9D53-AB0A50A6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E51C5-09F2-4964-A84A-EADDC37F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34CEE-3AE5-4061-996B-0E75D056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88.72%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74BBC-2E5A-4293-85AB-0BF7CACE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3AAE0-F771-461A-8ACD-CBE1B59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6BDDB-4BD4-47F8-A1F7-FC1334E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+ BatchNorm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27089-14B0-44AB-878C-3829371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94.66%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F8EDD-3C96-4ACF-9707-C22508D3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0013B-D933-44DB-B456-09109A02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BACE4-8F00-466D-91A6-AE60B639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433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CNN + BatchNorm + Dropout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A23E5-7B47-40F6-819E-72B0718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43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94.82%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F7285-E5CB-4D21-9CA6-2DCB4A2F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86571-471D-4AB4-85B5-FF8F7AF1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19737-2B6D-400D-B8ED-C0B4C4D8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+ Dropout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B350C-51D1-474C-BA4E-2E92B1AC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88.83%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09DF6-47E0-42FD-9FAC-059C12F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8B05A-28A5-4382-B796-9F0C7700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FC40A-CF39-4955-B594-F4D16AC8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CNN base, LR 0.0003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7F9E8-E837-40E6-913A-635331FE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00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3B"/>
                </a:solidFill>
                <a:latin typeface="Arial"/>
                <a:ea typeface="Arial"/>
                <a:cs typeface="Arial"/>
              </a:rPr>
              <a:t>81.93%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126592-C54D-4B71-A76E-0B7D0DB6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832B5-5F65-48F0-8B66-5DB01BBC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907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7C4442-2B4F-438D-B499-D0A92B8D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95475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94.82%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38D840-A461-4444-9D81-3D57EEC7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71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93"/>
          </a:bodyPr>
          <a:lstStyle xmlns:a="http://schemas.openxmlformats.org/drawingml/2006/main">
            <a:defPPr algn="l">
              <a:defRPr sz="17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A3 · mejor macro-F1 de validación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5C9109-8832-449A-84E4-D57C7991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1470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A2 quedó muy cerca: 94.66%. La diferencia entre ambos fue de 0.17 puntos porcentuales.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153626-37E5-4AE3-BB7F-248A945C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148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25"/>
          </a:bodyPr>
          <a:lstStyle xmlns:a="http://schemas.openxmlformats.org/drawingml/2006/main">
            <a:defPPr algn="l"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A2 y A3 superaron a la CNN base. D1 quedó casi al nivel de A1. C1 no alcanzó ese desempeño en 40 épocas.</a:t>
            </a:r>
          </a:p>
        </p:txBody>
      </p:sp>
    </p:spTree>
    <p:extLst>
      <p:ext uri="{BB962C8B-B14F-4D97-AF65-F5344CB8AC3E}">
        <p14:creationId xmlns:p14="http://schemas.microsoft.com/office/powerpoint/2010/main" val="118541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82B4C2-0A81-4552-BC6A-D9FD092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F0185-3F33-4584-BE4B-999B612E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Test final y errores por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F0718-4181-43AE-AA7A-BAEA7E1E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Evaluación única de A3 sobre las 3,421 imágenes reservadas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5A7DC-30F0-4D01-A9CD-1817A1F3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3A50D-6228-4981-AA70-56248E18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3866E-BD8B-4028-948B-C9E3D3AC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F5E0F-DC67-4BFF-A50F-BE0AD53F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CLASE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CBB57-D1B4-4664-A3A3-CA11314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14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C73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FF280-B356-4035-B052-D489A89F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C8D09-8EB1-4139-82B3-BC4400EB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Granulocitos inmaduros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75553-7952-4FC8-95A2-DF2D8BE6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43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88.4%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B5FA8-F4F2-453C-90CF-49BFAB8D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9A203-1811-4907-96DD-B2218066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Basófilos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B4965-9E16-4394-8586-0AEA843E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90.6%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3EAFE-9F42-4442-A1D7-43D25475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DA5BD-DA60-4AF7-90A5-DB3ED958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Monocitos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AAF12-7FC1-4B5F-9EE0-CA7AC09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575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C85E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5E3A"/>
                </a:solidFill>
                <a:latin typeface="Arial"/>
                <a:ea typeface="Arial"/>
                <a:cs typeface="Arial"/>
              </a:rPr>
              <a:t>91.2%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9BA45-274A-4972-9408-CE9B72EC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53F6A-5EC3-439A-BE2C-91E8833A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Linfocitos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F3078-411E-477A-99AC-16A3B3EB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147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A6A13-B105-47C3-ACA0-F480306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88CA9-8809-4078-84BE-7189A56F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Eritroblastos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8A3BC-5B79-4E77-925F-74FA1CF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719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96.1%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E6C8B-0F5A-4938-AF75-77C17933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44D34-F9F9-4442-AE75-22BA6798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Neutrófilos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4C069-1A0E-4ED6-88C6-5A9FAA6A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29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97.7%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9B6638-77AE-43A5-8AE0-E0C2D32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4DFB9-7AF7-4B0D-8F9F-5D5533BA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Eosinófilos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0947C-8769-457C-8FC0-8E29E20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86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98.9%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7E3E74-3961-45D9-A5DC-8590A1B2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08C54-D896-4E74-8F02-E2572113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Plaquetas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EDDA2-ADA7-4823-AA96-5A353252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435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100.0%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AA409-7710-4AF1-81D1-8CCF794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642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4C6944-283C-4614-B196-711ABEA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43075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1176F5-97C0-4049-80E1-56D02D44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A3 en test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485170-070C-43DD-8A60-7DE33E99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95.15%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5C34CF-ED65-44AF-85A8-AD0D69E1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Exactitud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DEA5A1-B7B8-4011-AD35-008A8745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94.45%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E181BA-9C2C-49B7-8D11-7A74BBBD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Macro-F1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02FE58-C691-4C50-AA4E-B2929AC8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Confusiones más frecuentes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54688F-0E01-48DD-9B51-C02009E9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0125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Entre los errores más comunes: 22 granulocitos inmaduros predichos como monocitos, 18 como basófilos y 16 monocitos como granulocitos inmaduros.</a:t>
            </a:r>
          </a:p>
        </p:txBody>
      </p:sp>
    </p:spTree>
    <p:extLst>
      <p:ext uri="{BB962C8B-B14F-4D97-AF65-F5344CB8AC3E}">
        <p14:creationId xmlns:p14="http://schemas.microsoft.com/office/powerpoint/2010/main" val="616295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73078-5E5B-4A13-ACB1-977DFB5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C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9DBFA-F7E6-446D-8CDA-0E913E1E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Conclusiones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98F05-4800-4356-8B76-38AE69F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382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Hallazgos de estas corridas, con sus límites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6BBC-A8F0-4622-BD1A-8D6B424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F63C6-10DE-4DB4-973E-0929EDF5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BloodMNIST, CNN, proyecto de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98741-FE76-49C3-964D-7A4AD7DE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04EB5-73CD-4806-A8B4-6C7F2075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Qué muestran los resultados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820C9-17F6-4744-A6B0-D1723E1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BatchNorm coincidió con la mejora más clara frente a A1.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A3 obtuvo el mejor valor de validación, pero su ventaja frente a A2 fue marginal.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Dropout sin BatchNorm casi no cambió el macro-F1.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832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B"/>
                </a:solidFill>
                <a:latin typeface="Arial"/>
                <a:ea typeface="Arial"/>
                <a:cs typeface="Arial"/>
              </a:rPr>
              <a:t>La tasa menor no igualó la línea base dentro de 40 épocas.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E8C65-EDCF-4195-B85D-1AA509D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621DD-4FA1-4287-B73C-177C8B70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8C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8C87"/>
                </a:solidFill>
                <a:latin typeface="Arial"/>
                <a:ea typeface="Arial"/>
                <a:cs typeface="Arial"/>
              </a:rPr>
              <a:t>Qué podemos concluir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AE7DC-D73F-43FB-8141-05EF8FB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38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94"/>
          </a:bodyPr>
          <a:lstStyle xmlns:a="http://schemas.openxmlformats.org/drawingml/2006/main">
            <a:defPPr algn="l">
              <a:defRPr sz="18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0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6"/>
                </a:solidFill>
                <a:latin typeface="Arial"/>
                <a:ea typeface="Arial"/>
                <a:cs typeface="Arial"/>
              </a:rPr>
              <a:t>Para estos runs, BatchNorm se asoció con un mejor desempeño de validación. Combinarlo con Dropout dio el mejor resultado observado, aunque la diferencia frente a BatchNorm solo fue pequeña.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F2883-6E22-4B6A-825E-6A7EA22B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38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53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C73"/>
                </a:solidFill>
                <a:latin typeface="Arial"/>
                <a:ea typeface="Arial"/>
                <a:cs typeface="Arial"/>
              </a:rPr>
              <a:t>Alcance: una corrida por escenario, semilla 42 y hasta 40 épocas. Test se evaluó solo con A3. No medimos variación entre semillas ni comparamos modelos en test.</a:t>
            </a:r>
          </a:p>
        </p:txBody>
      </p:sp>
    </p:spTree>
    <p:extLst>
      <p:ext uri="{BB962C8B-B14F-4D97-AF65-F5344CB8AC3E}">
        <p14:creationId xmlns:p14="http://schemas.microsoft.com/office/powerpoint/2010/main" val="2035023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2026-10-16T12:23:22.8910000Z</dcterms:created>
  <dcterms:modified xsi:type="dcterms:W3CDTF">2026-10-16T12:23:22.8910000Z</dcterms:modified>
</coreProperties>
</file>