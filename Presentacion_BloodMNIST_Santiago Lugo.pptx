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71" r:id="rId12"/>
    <p:sldId id="270" r:id="rId13"/>
    <p:sldId id="268" r:id="rId14"/>
    <p:sldId id="26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Presento un proyecto que usa BloodMNIST para estudiar cómo algunas decisiones de entrenamiento cambian el comportamiento de una CNN. La imagen reúne ejemplos del split train y muestra la variedad morfológica de las ocho clases. El objetivo fue comparar configuraciones con una pregunta y condiciones definidas. Fuente visual: outputs/eda/train_examples.png.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BloodMNIST contiene 17,092 imágenes distribuidas en ocho clases y ya ofrece particiones oficiales. El EDA identificó diferencias en la frecuencia de clases, por lo que además de la exactitud global observamos métricas macro y métricas por clase. La pregunta del proyecto se centra en cómo las configuraciones cambian tanto el rendimiento como la evolución de las pérdidas. Fuentes: README.md y outputs/eda/dataset_summary.json.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A1 funciona como referencia. A2 agrega BatchNorm; A3 combina BatchNorm con Dropout; D1 aísla Dropout sin BatchNorm; y C1 reduce la tasa de aprendizaje. Se mantuvieron constantes semilla 42, CPU, batch 128 y máximo 40 épocas. El checkpoint se selecciona por menor pérdida de validación. B1, early stopping, quedó como registro histórico y no se incluye en la comparación activa. Fuente: configs/experiments.json y outputs/runs/comparison.json.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tabla resume el macro-F1 de validation para cada configuración. A2 alcanzó 94.66% y A3 94.82%, una diferencia muy pequeña. Ambas superan claramente A1, mientras que D1 queda prácticamente junto a la línea base. C1 fue menor después de 40 épocas. Estos son resultados de una corrida por escenario, así que describen esta ejecución y no una regla universal. Fuente: outputs/runs/comparison.json.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Escenario de referencia. Las curvas muestran el descenso de pérdida y la mejora de exactitud en train y validation durante 40 épocas. Los gráficos se reproducen desde outputs/runs/A1/training_curves.png. La selección del checkpoint se realizó por menor pérdida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añade BatchNorm a la CNN base. En esta ejecución, la curva de validation presenta fluctuaciones marcadas, aunque el checkpoint alcanzó alto macro-F1 de validación. Los gráficos se reproducen desde outputs/runs/A2/training_curves.png. La selección del checkpoint se realizó por menor pérdida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combina BatchNorm con Dropout p=0.3. La figura muestra una mejora sostenida en train y variaciones pronunciadas en validation a lo largo del entrenamiento. Los gráficos se reproducen desde outputs/runs/A3/training_curves.png. La selección del checkpoint se realizó por menor pérdida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incorpora Dropout p=0.3 sin BatchNorm. Las curvas de train y validation descienden de forma más gradual en comparación con los escenarios que incorporan BatchNorm. Los gráficos se reproducen desde outputs/runs/D1/training_curves.png. La selección del checkpoint se realizó por menor pérdida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mantiene la arquitectura base y se reduce la tasa de aprendizaje a 0.0003. La pérdida de validation desciende gradualmente durante las 40 épocas. Los gráficos se reproducen desde outputs/runs/C1/training_curves.png. La selección del checkpoint se realizó por menor pérdida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comparación se construyó a partir de history.json de A1, A2, A3, D1 y C1. El panel izquierdo muestra validation loss y el derecho validation macro-F1 por época. B1 se excluye porque dejó de ser un escenario activo. Las curvas permiten observar estabilidad además del mejor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Tras escoger el modelo mediante validation, se evaluó A3 una sola vez en test. Obtuvo 95.15% de exactitud y 94.45% de macro-F1. La tabla muestra recall por clase. Los valores más bajos aparecen en granulocitos inmaduros, basófilos y monocitos. La matriz registra errores recurrentes entre esos grupos, especialmente granulocitos inmaduros y monocitos. Los otros escenarios no se midieron en test, así que esta diapositiva no los compara. Fuente: outputs/final_evaluation/test_metrics.json.</a:t>
            </a:r>
          </a:p>
          <a:p>
            <a:r>
              <a:t>La columna CANTIDAD indica el número de imágenes de cada clase en el split test (soporte por clase), con un total de 3,421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Tras escoger el modelo mediante validation, se evaluó A3 una sola vez en test. Obtuvo 95.15% de exactitud y 94.45% de macro-F1. La tabla muestra recall por clase. Los valores más bajos aparecen en granulocitos inmaduros, basófilos y monocitos. La matriz registra errores recurrentes entre esos grupos, especialmente granulocitos inmaduros y monocitos. Los otros escenarios no se midieron en test, así que esta diapositiva no los compara. Fuente: outputs/final_evaluation/test_metrics.json.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3588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Matriz de confusión generada desde outputs/final_evaluation/test_metrics.json. Las filas representan la clase real y las columnas la predicción. El JSON registra 3,421 muestras y test_evaluation_count=1. A3 obtuvo 95.15% de exactitud y 94.45% de macro-F1. No se evaluaron en test los demás escenarios.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cerrar, la evidencia apunta a que BatchNorm fue el cambio asociado con la mejora más marcada frente a la base. A3 tuvo la mejor validación y un resultado final de test consistente, pero su ventaja sobre A2 fue pequeña y no evaluamos los otros modelos en test. Solo hubo una corrida por configuración con semilla 42, por lo que no podemos medir variación entre ejecuciones. La conclusión queda limitada a este diseño y estos runs. Fuente: outputs/runs/comparison.json y outputs/final_evaluation/test_metrics.json.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70AFAFB-8C8B-4D1F-AAA6-949910106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AE3E69D-3F46-4781-B060-F48653A5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45F33A5-83A8-4B09-860B-AFD2DDBC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08D2657-3E5F-4F2C-AF23-65581577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DD41C-417C-4B46-AA6D-7BC5F7159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2BBCFD-541C-4E24-8730-F7177B78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0E8F299-8310-4AA1-94BE-9E926352A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DCBD137-30FB-4533-8864-2DD942BB2E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BA2E135-87AA-43CC-A81A-900DA2F1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FB05D00-7738-4989-B980-D37CDA758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651FC0CE-589A-4678-A5DF-C6B3009327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D8BB18-C701-4886-961D-97D6A614B9B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7FD0C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7FD0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D0C3"/>
                </a:solidFill>
                <a:latin typeface="Arial"/>
                <a:ea typeface="Arial"/>
                <a:cs typeface="Arial"/>
              </a:rPr>
              <a:t>PROYECTO DE DEEP LEARNING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84FFE1-C546-4157-9A68-A50A8932936D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para</a:t>
            </a:r>
          </a:p>
          <a:p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BloodMNIST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72D537-196A-4AB1-B973-8B70AFF13B5A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DCE8E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DCE8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8E6"/>
                </a:solidFill>
                <a:latin typeface="Arial"/>
                <a:ea typeface="Arial"/>
                <a:cs typeface="Arial"/>
              </a:rPr>
              <a:t>Experimentos controlados con BatchNorm, Dropout y tasa de aprendizaje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0701B1-9D4E-44E2-AF7E-74EA0DA49058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5372100" cy="6051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A7C1C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A7C1C0"/>
                </a:solidFill>
                <a:latin typeface="Arial"/>
                <a:ea typeface="Arial"/>
                <a:cs typeface="Arial"/>
              </a:defRPr>
            </a:pPr>
            <a:r>
              <a:rPr lang="es-MX" sz="1500" b="0" dirty="0">
                <a:solidFill>
                  <a:srgbClr val="A7C1C0"/>
                </a:solidFill>
                <a:latin typeface="Arial"/>
                <a:ea typeface="Arial"/>
                <a:cs typeface="Arial"/>
              </a:rPr>
              <a:t>Santiago Lugo Camacho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A7C1C0"/>
                </a:solidFill>
                <a:latin typeface="Arial"/>
                <a:ea typeface="Arial"/>
                <a:cs typeface="Arial"/>
              </a:defRPr>
            </a:pPr>
            <a:r>
              <a:rPr lang="es-MX" sz="1500" dirty="0">
                <a:solidFill>
                  <a:srgbClr val="A7C1C0"/>
                </a:solidFill>
                <a:latin typeface="Arial"/>
                <a:ea typeface="Arial"/>
                <a:cs typeface="Arial"/>
              </a:rPr>
              <a:t>Universidad El Bosque</a:t>
            </a:r>
            <a:endParaRPr sz="1500" b="0" dirty="0">
              <a:solidFill>
                <a:srgbClr val="A7C1C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3C5DB3-3CE7-41C8-9996-7FE6A7CE6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324" b="24443"/>
          <a:stretch/>
        </p:blipFill>
        <p:spPr>
          <a:xfrm>
            <a:off x="7943850" y="614082"/>
            <a:ext cx="3638550" cy="562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1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539E707-6004-477C-9C82-AC342A10CF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45686A-A1F3-4D1C-8FD5-149CF22C20A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BloodMNIST y pregunta de investigación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D8418D-B947-41ED-947E-BC47027264A1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Un problema de clasificación microscópica con ocho clases celulares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77BE36-8001-4D6F-89AA-DBDB9772A3B6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C45680-C049-44BD-9A7D-0D8764282857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F64103E-B679-42B5-B98F-16D62B39655F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98FCC5-B718-48AD-8E03-C50252C6C333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02"/>
          </a:bodyPr>
          <a:lstStyle>
            <a:defPPr algn="l">
              <a:defRPr sz="40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40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17,092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DFF9DA-15EB-49A8-880E-0E398024D64C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imágenes · RGB · 28 × 28 píxeles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5BB766-3807-472C-A09B-F1AC56BAEBC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Train: 11,959, validación: 1,712, test: 3,421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D4BEAD-76A5-4F2C-AFE1-33170C72AC3F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4905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El EDA mostró desbalance: neutrófilos son la clase más numerosa en train; basófilos y linfocitos, de las menos representadas.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D41EC9B-0C89-4A5E-AF8B-F8C42A31EEEF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19050" cy="3600450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A5DE2A1-7D24-4D6D-8604-4AB2D82D7A91}"/>
              </a:ext>
            </a:extLst>
          </p:cNvPr>
          <p:cNvSpPr>
            <a:spLocks noGrp="1"/>
          </p:cNvSpPr>
          <p:nvPr/>
        </p:nvSpPr>
        <p:spPr>
          <a:xfrm>
            <a:off x="6515100" y="18478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9A5540B-ACA3-4375-914A-0BF173F50677}"/>
              </a:ext>
            </a:extLst>
          </p:cNvPr>
          <p:cNvSpPr>
            <a:spLocks noGrp="1"/>
          </p:cNvSpPr>
          <p:nvPr/>
        </p:nvSpPr>
        <p:spPr>
          <a:xfrm>
            <a:off x="6515100" y="2305050"/>
            <a:ext cx="47625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05"/>
          </a:bodyPr>
          <a:lstStyle>
            <a:defPPr algn="l">
              <a:defRPr sz="22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¿Cómo influyen las configuraciones de la CNN en el desempeño de clasificación y en la evolución de las pérdidas de entrenamiento y validación?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CC7160B-B10A-4A16-AA59-51715DAC16C8}"/>
              </a:ext>
            </a:extLst>
          </p:cNvPr>
          <p:cNvSpPr>
            <a:spLocks noGrp="1"/>
          </p:cNvSpPr>
          <p:nvPr/>
        </p:nvSpPr>
        <p:spPr>
          <a:xfrm>
            <a:off x="6515100" y="4105275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Hipótesis general: BatchNorm, Dropout y la tasa de aprendizaje pueden producir diferencias observables, aunque no todas las modificaciones tienen que mejorar las métricas.</a:t>
            </a:r>
          </a:p>
        </p:txBody>
      </p:sp>
    </p:spTree>
    <p:extLst>
      <p:ext uri="{BB962C8B-B14F-4D97-AF65-F5344CB8AC3E}">
        <p14:creationId xmlns:p14="http://schemas.microsoft.com/office/powerpoint/2010/main" val="104089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82C73A87-B61C-48BC-80CB-3CE5FE617E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948A40-5977-4980-8499-2B66CA21DAD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Diseño experimental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3048C7-43E8-4B4C-B9DE-BE4F59C745F5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Cinco escenarios activos · un factor de interés por comparación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889B06-5DE6-4EA8-B4C5-001B285237EC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F5E5EE-F12A-475C-A734-CFB417450B85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93119A-A26E-44E3-AAE6-B6DCF7184D6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C90071-8AC4-48BE-952E-DAB66FC15C15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85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D381BC-3108-4F5E-B8A4-B5411EFF5998}"/>
              </a:ext>
            </a:extLst>
          </p:cNvPr>
          <p:cNvSpPr>
            <a:spLocks noGrp="1"/>
          </p:cNvSpPr>
          <p:nvPr/>
        </p:nvSpPr>
        <p:spPr>
          <a:xfrm>
            <a:off x="2667000" y="16573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7C7F6B-B616-4A40-A926-E5E547F1F618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Cambio estudiado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3B95645-2618-4D3E-B2F7-AE053BBD070B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E2F08C-E0F1-4788-A236-52F9BC7A7055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1FBBC8-6E8B-4E13-A1A0-19D572B16DA4}"/>
              </a:ext>
            </a:extLst>
          </p:cNvPr>
          <p:cNvSpPr>
            <a:spLocks noGrp="1"/>
          </p:cNvSpPr>
          <p:nvPr/>
        </p:nvSpPr>
        <p:spPr>
          <a:xfrm>
            <a:off x="2667000" y="207645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B5E1FD3-05EE-469C-AC00-FB32769F8881}"/>
              </a:ext>
            </a:extLst>
          </p:cNvPr>
          <p:cNvSpPr>
            <a:spLocks noGrp="1"/>
          </p:cNvSpPr>
          <p:nvPr/>
        </p:nvSpPr>
        <p:spPr>
          <a:xfrm>
            <a:off x="6191250" y="20764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98FAD92-8954-4307-8F6C-576F0C182943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0B2A07-316C-4B2C-862E-30E617EDA9A8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9DE20FB-EC54-43A6-B22D-E1CCD483F577}"/>
              </a:ext>
            </a:extLst>
          </p:cNvPr>
          <p:cNvSpPr>
            <a:spLocks noGrp="1"/>
          </p:cNvSpPr>
          <p:nvPr/>
        </p:nvSpPr>
        <p:spPr>
          <a:xfrm>
            <a:off x="2667000" y="2667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BatchNorm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B22F6E-5E36-4013-93FA-89C3F632F0DB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BatchNorm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8430FC-90DC-4E7B-8A41-8E1EE12FD056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62AAD50-94B8-4AC9-BDAD-B6EBBAC4269B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3260277-3276-4C1C-967F-09A00AC4E9FA}"/>
              </a:ext>
            </a:extLst>
          </p:cNvPr>
          <p:cNvSpPr>
            <a:spLocks noGrp="1"/>
          </p:cNvSpPr>
          <p:nvPr/>
        </p:nvSpPr>
        <p:spPr>
          <a:xfrm>
            <a:off x="2667000" y="325755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BatchNorm + Dropout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A5A4DDC-4ED5-4E6E-B5E3-ECD8442F35A2}"/>
              </a:ext>
            </a:extLst>
          </p:cNvPr>
          <p:cNvSpPr>
            <a:spLocks noGrp="1"/>
          </p:cNvSpPr>
          <p:nvPr/>
        </p:nvSpPr>
        <p:spPr>
          <a:xfrm>
            <a:off x="6191250" y="32575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p = 0.3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6027DEA-F4D2-4509-8EA4-EC8400C76979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3666209-B6F4-4D36-B5B6-E7053B41135D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6F0FD6F-F2B7-4F85-A4C1-070B48990A39}"/>
              </a:ext>
            </a:extLst>
          </p:cNvPr>
          <p:cNvSpPr>
            <a:spLocks noGrp="1"/>
          </p:cNvSpPr>
          <p:nvPr/>
        </p:nvSpPr>
        <p:spPr>
          <a:xfrm>
            <a:off x="2667000" y="38481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Dropout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9119E67-4E43-4BC6-BF4D-162C748E368C}"/>
              </a:ext>
            </a:extLst>
          </p:cNvPr>
          <p:cNvSpPr>
            <a:spLocks noGrp="1"/>
          </p:cNvSpPr>
          <p:nvPr/>
        </p:nvSpPr>
        <p:spPr>
          <a:xfrm>
            <a:off x="6191250" y="38481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p = 0.3, sin BatchNorm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5329038-87F0-4433-822F-183B2580DBD4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D4989A6-0D1D-48B3-93E7-F51C5AA55C61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76D13AB-C0ED-46F3-BFEB-9B301814ED36}"/>
              </a:ext>
            </a:extLst>
          </p:cNvPr>
          <p:cNvSpPr>
            <a:spLocks noGrp="1"/>
          </p:cNvSpPr>
          <p:nvPr/>
        </p:nvSpPr>
        <p:spPr>
          <a:xfrm>
            <a:off x="2667000" y="443865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9797536-CAAC-4EC3-89D7-7D402628A4C7}"/>
              </a:ext>
            </a:extLst>
          </p:cNvPr>
          <p:cNvSpPr>
            <a:spLocks noGrp="1"/>
          </p:cNvSpPr>
          <p:nvPr/>
        </p:nvSpPr>
        <p:spPr>
          <a:xfrm>
            <a:off x="6191250" y="44386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Tasa de aprendizaje 0.0003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038C5E4-F76A-42E0-8D58-211C4249276D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106680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777942A-7BBB-4184-9483-AF12C1B265AF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Condiciones comunes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79C1669-8FA4-4CA2-8EB7-DDD99B79BB60}"/>
              </a:ext>
            </a:extLst>
          </p:cNvPr>
          <p:cNvSpPr>
            <a:spLocks noGrp="1"/>
          </p:cNvSpPr>
          <p:nvPr/>
        </p:nvSpPr>
        <p:spPr>
          <a:xfrm>
            <a:off x="2952750" y="5353050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77"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Semilla 42, CPU, batch 128, hasta 40 épocas, AdamW, checkpoint por menor pérdida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90041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D2BF22AD-35B4-4633-BA0B-9670B3BD16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0D6943-A786-4A83-997A-14A72DB01FB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Validación: A2 y A3 lideran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EE96CF-7E54-4B28-805E-6B39D1FE3869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 (%) en el checkpoint seleccionado por menor pérdida de validación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BEE9313-C286-46A8-B0B2-E4D8F7A925ED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48BEBB-FDE1-489B-A61D-66F4C9CA5993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4A1AEBB-E833-4126-B85E-EF28212CA3F9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67F495-C730-491C-B6B7-7E845A8D8C9A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ESCENARIO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D4DB52-E8B4-44A7-B6EA-E0F31B05E79C}"/>
              </a:ext>
            </a:extLst>
          </p:cNvPr>
          <p:cNvSpPr>
            <a:spLocks noGrp="1"/>
          </p:cNvSpPr>
          <p:nvPr/>
        </p:nvSpPr>
        <p:spPr>
          <a:xfrm>
            <a:off x="5524500" y="17811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3ACC8C6-D31E-4CA5-A54F-BC06C0438D8E}"/>
              </a:ext>
            </a:extLst>
          </p:cNvPr>
          <p:cNvSpPr>
            <a:spLocks noGrp="1"/>
          </p:cNvSpPr>
          <p:nvPr/>
        </p:nvSpPr>
        <p:spPr>
          <a:xfrm>
            <a:off x="742950" y="2105025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68FF3AE-C636-47AB-9D53-AB0A50A60F2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7E51C5-09F2-4964-A84A-EADDC37FA8E3}"/>
              </a:ext>
            </a:extLst>
          </p:cNvPr>
          <p:cNvSpPr>
            <a:spLocks noGrp="1"/>
          </p:cNvSpPr>
          <p:nvPr/>
        </p:nvSpPr>
        <p:spPr>
          <a:xfrm>
            <a:off x="1619250" y="22860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6934CEE-3AE5-4061-996B-0E75D0567143}"/>
              </a:ext>
            </a:extLst>
          </p:cNvPr>
          <p:cNvSpPr>
            <a:spLocks noGrp="1"/>
          </p:cNvSpPr>
          <p:nvPr/>
        </p:nvSpPr>
        <p:spPr>
          <a:xfrm>
            <a:off x="5524500" y="22860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88.72%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774BBC-2E5A-4293-85AB-0BF7CACE0E92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FB3AAE0-F771-461A-8ACD-CBE1B59D19AC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46BDDB-4BD4-47F8-A1F7-FC1334EA73E2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+ BatchNorm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8627089-14B0-44AB-878C-382937174F6B}"/>
              </a:ext>
            </a:extLst>
          </p:cNvPr>
          <p:cNvSpPr>
            <a:spLocks noGrp="1"/>
          </p:cNvSpPr>
          <p:nvPr/>
        </p:nvSpPr>
        <p:spPr>
          <a:xfrm>
            <a:off x="5524500" y="29146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94.66%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DF8EDD-3C96-4ACF-9707-C22508D3AAA6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8F0013B-D933-44DB-B456-09109A02EF33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F5BACE4-8F00-466D-91A6-AE60B6399FCB}"/>
              </a:ext>
            </a:extLst>
          </p:cNvPr>
          <p:cNvSpPr>
            <a:spLocks noGrp="1"/>
          </p:cNvSpPr>
          <p:nvPr/>
        </p:nvSpPr>
        <p:spPr>
          <a:xfrm>
            <a:off x="1619250" y="35433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CNN + BatchNorm + Dropout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83A23E5-7B47-40F6-819E-72B07184CC3A}"/>
              </a:ext>
            </a:extLst>
          </p:cNvPr>
          <p:cNvSpPr>
            <a:spLocks noGrp="1"/>
          </p:cNvSpPr>
          <p:nvPr/>
        </p:nvSpPr>
        <p:spPr>
          <a:xfrm>
            <a:off x="5524500" y="35433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94.82%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39F7285-E5CB-4D21-9CA6-2DCB4A2F906A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F186571-471D-4AB4-85B5-FF8F7AF14E5D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B19737-2B6D-400D-B8ED-C0B4C4D85D45}"/>
              </a:ext>
            </a:extLst>
          </p:cNvPr>
          <p:cNvSpPr>
            <a:spLocks noGrp="1"/>
          </p:cNvSpPr>
          <p:nvPr/>
        </p:nvSpPr>
        <p:spPr>
          <a:xfrm>
            <a:off x="1619250" y="41719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+ Dropout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78B350C-51D1-474C-BA4E-2E92B1ACBEC9}"/>
              </a:ext>
            </a:extLst>
          </p:cNvPr>
          <p:cNvSpPr>
            <a:spLocks noGrp="1"/>
          </p:cNvSpPr>
          <p:nvPr/>
        </p:nvSpPr>
        <p:spPr>
          <a:xfrm>
            <a:off x="5524500" y="41719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88.83%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1D09DF6-47E0-42FD-9FAC-059C12FB758C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F28B05A-28A5-4382-B796-9F0C77003AF3}"/>
              </a:ext>
            </a:extLst>
          </p:cNvPr>
          <p:cNvSpPr>
            <a:spLocks noGrp="1"/>
          </p:cNvSpPr>
          <p:nvPr/>
        </p:nvSpPr>
        <p:spPr>
          <a:xfrm>
            <a:off x="800100" y="480060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AAFC40A-CF39-4955-B594-F4D16AC8D50E}"/>
              </a:ext>
            </a:extLst>
          </p:cNvPr>
          <p:cNvSpPr>
            <a:spLocks noGrp="1"/>
          </p:cNvSpPr>
          <p:nvPr/>
        </p:nvSpPr>
        <p:spPr>
          <a:xfrm>
            <a:off x="1619250" y="48006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base, LR 0.0003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1C7F9E8-E837-40E6-913A-635331FE347E}"/>
              </a:ext>
            </a:extLst>
          </p:cNvPr>
          <p:cNvSpPr>
            <a:spLocks noGrp="1"/>
          </p:cNvSpPr>
          <p:nvPr/>
        </p:nvSpPr>
        <p:spPr>
          <a:xfrm>
            <a:off x="5524500" y="48006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81.93%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B126592-C54D-4B71-A76E-0B7D0DB6BC85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638175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B2832B5-5F65-48F0-8B66-5DB01BBC691B}"/>
              </a:ext>
            </a:extLst>
          </p:cNvPr>
          <p:cNvSpPr>
            <a:spLocks noGrp="1"/>
          </p:cNvSpPr>
          <p:nvPr/>
        </p:nvSpPr>
        <p:spPr>
          <a:xfrm>
            <a:off x="7724775" y="1790700"/>
            <a:ext cx="19050" cy="3562350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47C4442-2B4F-438D-B499-D0A92B8DA58B}"/>
              </a:ext>
            </a:extLst>
          </p:cNvPr>
          <p:cNvSpPr>
            <a:spLocks noGrp="1"/>
          </p:cNvSpPr>
          <p:nvPr/>
        </p:nvSpPr>
        <p:spPr>
          <a:xfrm>
            <a:off x="8058150" y="1895475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6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94.82%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138D840-A461-4444-9D81-3D57EEC74EFB}"/>
              </a:ext>
            </a:extLst>
          </p:cNvPr>
          <p:cNvSpPr>
            <a:spLocks noGrp="1"/>
          </p:cNvSpPr>
          <p:nvPr/>
        </p:nvSpPr>
        <p:spPr>
          <a:xfrm>
            <a:off x="8086725" y="25717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893"/>
          </a:bodyPr>
          <a:lstStyle>
            <a:defPPr algn="l">
              <a:defRPr sz="17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A3 · mejor macro-F1 de validación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5C9109-8832-449A-84E4-D57C7991E869}"/>
              </a:ext>
            </a:extLst>
          </p:cNvPr>
          <p:cNvSpPr>
            <a:spLocks noGrp="1"/>
          </p:cNvSpPr>
          <p:nvPr/>
        </p:nvSpPr>
        <p:spPr>
          <a:xfrm>
            <a:off x="8086725" y="3314700"/>
            <a:ext cx="3143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A2 quedó muy cerca: 94.66%. La diferencia entre ambos fue de 0.17 puntos porcentuales.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C153626-37E5-4AE3-BB7F-248A945CDA6E}"/>
              </a:ext>
            </a:extLst>
          </p:cNvPr>
          <p:cNvSpPr>
            <a:spLocks noGrp="1"/>
          </p:cNvSpPr>
          <p:nvPr/>
        </p:nvSpPr>
        <p:spPr>
          <a:xfrm>
            <a:off x="8086725" y="4514850"/>
            <a:ext cx="3143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25"/>
          </a:bodyPr>
          <a:lstStyle>
            <a:defPPr algn="l"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A2 y A3 superaron a la CNN base. D1 quedó casi al nivel de A1. C1 no alcanzó ese desempeño en 40 épocas.</a:t>
            </a:r>
          </a:p>
        </p:txBody>
      </p:sp>
    </p:spTree>
    <p:extLst>
      <p:ext uri="{BB962C8B-B14F-4D97-AF65-F5344CB8AC3E}">
        <p14:creationId xmlns:p14="http://schemas.microsoft.com/office/powerpoint/2010/main" val="11854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0FE892-0469-4620-B433-ED049E054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0D2906-37C7-41E6-AD0E-DC7BB9F24F6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A1 · CNN base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0B6962-004B-40D4-B97D-4282FE2215CD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Evolución de train y validation · 40 épocas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B4F2C6-3D94-4836-92E6-26E8D8175BE7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C95683-CC0B-43CA-8E3A-CB68B60288DA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E1F60E-5E28-44D4-A335-4E9A13C49A0F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</a:t>
            </a: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5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0B7E76-F876-44DA-A1A7-28F998F85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51289"/>
            <a:ext cx="10668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8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8C3CCFB-44BA-413E-AAA3-8BA1BFA40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5C295A-522E-4F2D-95D9-02A230C098F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A2 · CNN + BatchNorm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5A9FC6-3B79-49C2-9868-874C2E34BC9F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Evolución de train y validation · 40 épocas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544E1A-E3D4-46DE-AF9F-0AD87926BBDD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6A0AD3-8933-4B27-855C-3F57904A36DC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D857B0A-AE99-4D7C-9AEB-6158D60F497C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</a:t>
            </a: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6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CB9261-F579-4564-94AC-FA5335EA6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51289"/>
            <a:ext cx="10668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0FDBA66-C401-4832-BA85-AF5A8166E8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E783CA-B144-4282-96C6-EE5E7C12DD2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A3 · CNN + BatchNorm + Dropout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26F180-04AC-4CA5-82E8-441AFB1BE923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Evolución de train y validation · 40 épocas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0BE9827-470D-41A6-AB50-EB4EBBD7F773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FD2949-E56D-404B-9DE9-4B5252B0887E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D22709-30BD-4CF2-B9F8-9643DC6EEB2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</a:t>
            </a: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7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782675-0554-4B18-8ACD-FE29F23E2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51289"/>
            <a:ext cx="10668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FB0C67C-C1EA-4650-8D06-A2725D37F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A88896-DD5D-44F4-B623-F6BE2F40F17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D1 · CNN + Dropout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69FE626-95D0-4B64-BB14-425A179652BA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Evolución de train y validation · 40 épocas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7E7B1B4-92EB-4099-882C-347CC1D91E0D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5DC9F0-9A10-4916-A685-D4211239782C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BD84A7-AC9D-4C2B-8853-BB5DDE30E5C3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</a:t>
            </a: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8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FE338D-F57E-46BD-9230-FDC568FDC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51289"/>
            <a:ext cx="10668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9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A886DD-5227-421D-A7B4-B373BE87C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D1454E-D911-4C05-BA60-E4FC91E90AF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C1 · CNN base · tasa de aprendizaje 0.0003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C7154F-5EB0-45F1-B668-6751E7BDD7EC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Evolución de train y validation · 40 épocas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8A1D9A3-40BF-4B80-B5AF-247887F4139F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904F60-623A-4366-9A3A-3979D3188BC2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D8BCA2B-E01E-4489-9896-43E34703690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09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7710D3-36E1-40DD-9479-A65D50075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51289"/>
            <a:ext cx="10668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03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A4C0C82-0513-492B-A53A-FCCCD7FDDD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B491E8-7D5B-472B-B564-3CF9D1B57C8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Comparación conjunta de validación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BD0811-87D0-4186-A65D-293C07CB9B9D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Pérdida y macro-F1 por época · cinco escenarios activos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241403-F727-413A-9E6A-60A64BCF8370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43B778-4DAF-49C5-AB4F-919D0445A1C9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971774-D7FD-413E-AE21-54EA247D05DB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1</a:t>
            </a: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0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3983DF-4F46-4A36-A9D4-5AFF060C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5618" y="1562100"/>
            <a:ext cx="10600765" cy="40957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1A23FE6-8101-4927-90F6-F2339C8B3C70}"/>
              </a:ext>
            </a:extLst>
          </p:cNvPr>
          <p:cNvSpPr>
            <a:spLocks noGrp="1"/>
          </p:cNvSpPr>
          <p:nvPr/>
        </p:nvSpPr>
        <p:spPr>
          <a:xfrm>
            <a:off x="752475" y="56864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A2 y A3 alcanzan los valores más altos de macro-F1 en validation. Sus curvas de pérdida presentan fluctuaciones notorias.</a:t>
            </a:r>
          </a:p>
        </p:txBody>
      </p:sp>
    </p:spTree>
    <p:extLst>
      <p:ext uri="{BB962C8B-B14F-4D97-AF65-F5344CB8AC3E}">
        <p14:creationId xmlns:p14="http://schemas.microsoft.com/office/powerpoint/2010/main" val="179084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FF82B4C2-0A81-4552-BC6A-D9FD092AE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4F0185-3F33-4584-BE4B-999B612E21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Test final y errores por clase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5F0718-4181-43AE-AA7A-BAEA7E1EE33F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Evaluación única de A3 sobre las 3,421 imágenes reservadas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F5A7DC-30F0-4D01-A9CD-1817A1F32726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3A50D-6228-4981-AA70-56248E1847B8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B3866E-BD8B-4028-948B-C9E3D3AC19D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11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FF5E0F-DC67-4BFF-A50F-BE0AD53F9F55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CLASE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2CBB57-D1B4-4664-A3A3-CA113145A524}"/>
              </a:ext>
            </a:extLst>
          </p:cNvPr>
          <p:cNvSpPr>
            <a:spLocks noGrp="1"/>
          </p:cNvSpPr>
          <p:nvPr/>
        </p:nvSpPr>
        <p:spPr>
          <a:xfrm>
            <a:off x="5619750" y="1714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5FF280-B356-4035-B052-D489A89F6BB8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1C8D09-8EB1-4139-82B3-BC4400EB77F1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Granulocitos inmaduros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8B75553-7952-4FC8-95A2-DF2D8BE6F9D0}"/>
              </a:ext>
            </a:extLst>
          </p:cNvPr>
          <p:cNvSpPr>
            <a:spLocks noGrp="1"/>
          </p:cNvSpPr>
          <p:nvPr/>
        </p:nvSpPr>
        <p:spPr>
          <a:xfrm>
            <a:off x="5619750" y="21431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88.4%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EB5FA8-F4F2-453C-90CF-49BFAB8D992B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69A203-1811-4907-96DD-B2218066EE0A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Basófilos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82B4965-9E16-4394-8586-0AEA843E75BB}"/>
              </a:ext>
            </a:extLst>
          </p:cNvPr>
          <p:cNvSpPr>
            <a:spLocks noGrp="1"/>
          </p:cNvSpPr>
          <p:nvPr/>
        </p:nvSpPr>
        <p:spPr>
          <a:xfrm>
            <a:off x="5619750" y="26003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90.6%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613EAFE-9F42-4442-A1D7-43D2547556CC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4DA5BD-DA60-4AF7-90A5-DB3ED95834F6}"/>
              </a:ext>
            </a:extLst>
          </p:cNvPr>
          <p:cNvSpPr>
            <a:spLocks noGrp="1"/>
          </p:cNvSpPr>
          <p:nvPr/>
        </p:nvSpPr>
        <p:spPr>
          <a:xfrm>
            <a:off x="762000" y="30575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Monocitos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DCAAF12-7FC1-4B5F-9EE0-CA7AC0969962}"/>
              </a:ext>
            </a:extLst>
          </p:cNvPr>
          <p:cNvSpPr>
            <a:spLocks noGrp="1"/>
          </p:cNvSpPr>
          <p:nvPr/>
        </p:nvSpPr>
        <p:spPr>
          <a:xfrm>
            <a:off x="5619750" y="30575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91.2%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989BA45-274A-4972-9408-CE9B72EC291D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453F6A-5EC3-439A-BE2C-91E8833AC8DD}"/>
              </a:ext>
            </a:extLst>
          </p:cNvPr>
          <p:cNvSpPr>
            <a:spLocks noGrp="1"/>
          </p:cNvSpPr>
          <p:nvPr/>
        </p:nvSpPr>
        <p:spPr>
          <a:xfrm>
            <a:off x="762000" y="35147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Linfocitos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4EF3078-411E-477A-99AC-16A3B3EB7C60}"/>
              </a:ext>
            </a:extLst>
          </p:cNvPr>
          <p:cNvSpPr>
            <a:spLocks noGrp="1"/>
          </p:cNvSpPr>
          <p:nvPr/>
        </p:nvSpPr>
        <p:spPr>
          <a:xfrm>
            <a:off x="5619750" y="35147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93.0%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A1A6A13-B105-47C3-ACA0-F48030666804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FD88CA9-8809-4078-84BE-7189A56F9FB0}"/>
              </a:ext>
            </a:extLst>
          </p:cNvPr>
          <p:cNvSpPr>
            <a:spLocks noGrp="1"/>
          </p:cNvSpPr>
          <p:nvPr/>
        </p:nvSpPr>
        <p:spPr>
          <a:xfrm>
            <a:off x="762000" y="39719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Eritroblastos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318A3BC-5B79-4E77-925F-74FA1CF081FA}"/>
              </a:ext>
            </a:extLst>
          </p:cNvPr>
          <p:cNvSpPr>
            <a:spLocks noGrp="1"/>
          </p:cNvSpPr>
          <p:nvPr/>
        </p:nvSpPr>
        <p:spPr>
          <a:xfrm>
            <a:off x="5619750" y="39719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96.1%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B5E6C8B-0F5A-4938-AF75-77C179330EB6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1844D34-F9F9-4442-AE75-22BA6798B006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Neutrófilos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DE4C069-1A0E-4ED6-88C6-5A9FAA6A586C}"/>
              </a:ext>
            </a:extLst>
          </p:cNvPr>
          <p:cNvSpPr>
            <a:spLocks noGrp="1"/>
          </p:cNvSpPr>
          <p:nvPr/>
        </p:nvSpPr>
        <p:spPr>
          <a:xfrm>
            <a:off x="5619750" y="44291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97.7%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C9B6638-77AE-43A5-8AE0-E0C2D32BF383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D84DFB9-7AF7-4B0D-8F9F-5D5533BAB1FE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Eosinófilos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000947C-8769-457C-8FC0-8E29E209ABE2}"/>
              </a:ext>
            </a:extLst>
          </p:cNvPr>
          <p:cNvSpPr>
            <a:spLocks noGrp="1"/>
          </p:cNvSpPr>
          <p:nvPr/>
        </p:nvSpPr>
        <p:spPr>
          <a:xfrm>
            <a:off x="5619750" y="48863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98.9%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27E3E74-3961-45D9-A5DC-8590A1B233FE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D608C54-D896-4E74-8F02-E25721135E5A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Plaquetas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35EDDA2-ADA7-4823-AA96-5A35325229FB}"/>
              </a:ext>
            </a:extLst>
          </p:cNvPr>
          <p:cNvSpPr>
            <a:spLocks noGrp="1"/>
          </p:cNvSpPr>
          <p:nvPr/>
        </p:nvSpPr>
        <p:spPr>
          <a:xfrm>
            <a:off x="5619750" y="53435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7DAA409-7710-4AF1-81D1-8CCF794F6A97}"/>
              </a:ext>
            </a:extLst>
          </p:cNvPr>
          <p:cNvSpPr>
            <a:spLocks noGrp="1"/>
          </p:cNvSpPr>
          <p:nvPr/>
        </p:nvSpPr>
        <p:spPr>
          <a:xfrm>
            <a:off x="704850" y="5695950"/>
            <a:ext cx="6429375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54C6944-283C-4614-B196-711ABEABD715}"/>
              </a:ext>
            </a:extLst>
          </p:cNvPr>
          <p:cNvSpPr>
            <a:spLocks noGrp="1"/>
          </p:cNvSpPr>
          <p:nvPr/>
        </p:nvSpPr>
        <p:spPr>
          <a:xfrm>
            <a:off x="7734300" y="1743075"/>
            <a:ext cx="19050" cy="3619500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41176F5-97C0-4049-80E1-56D02D441973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A3 en test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D485170-070C-43DD-8A60-7DE33E992678}"/>
              </a:ext>
            </a:extLst>
          </p:cNvPr>
          <p:cNvSpPr>
            <a:spLocks noGrp="1"/>
          </p:cNvSpPr>
          <p:nvPr/>
        </p:nvSpPr>
        <p:spPr>
          <a:xfrm>
            <a:off x="8077200" y="22764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95.15%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95C34CF-ED65-44AF-85A8-AD0D69E14F00}"/>
              </a:ext>
            </a:extLst>
          </p:cNvPr>
          <p:cNvSpPr>
            <a:spLocks noGrp="1"/>
          </p:cNvSpPr>
          <p:nvPr/>
        </p:nvSpPr>
        <p:spPr>
          <a:xfrm>
            <a:off x="8096250" y="2819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Exactitud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CDEA5A1-B7B8-4011-AD35-008A8745D832}"/>
              </a:ext>
            </a:extLst>
          </p:cNvPr>
          <p:cNvSpPr>
            <a:spLocks noGrp="1"/>
          </p:cNvSpPr>
          <p:nvPr/>
        </p:nvSpPr>
        <p:spPr>
          <a:xfrm>
            <a:off x="8077200" y="33147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94.45%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FE181BA-9C2C-49B7-8D11-7A74BBBD41D4}"/>
              </a:ext>
            </a:extLst>
          </p:cNvPr>
          <p:cNvSpPr>
            <a:spLocks noGrp="1"/>
          </p:cNvSpPr>
          <p:nvPr/>
        </p:nvSpPr>
        <p:spPr>
          <a:xfrm>
            <a:off x="8096250" y="3829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902FE58-C691-4C50-AA4E-B2929AC87A12}"/>
              </a:ext>
            </a:extLst>
          </p:cNvPr>
          <p:cNvSpPr>
            <a:spLocks noGrp="1"/>
          </p:cNvSpPr>
          <p:nvPr/>
        </p:nvSpPr>
        <p:spPr>
          <a:xfrm>
            <a:off x="8077200" y="4438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Confusiones más frecuentes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554688F-0E01-48DD-9B51-C02009E9CEDC}"/>
              </a:ext>
            </a:extLst>
          </p:cNvPr>
          <p:cNvSpPr>
            <a:spLocks noGrp="1"/>
          </p:cNvSpPr>
          <p:nvPr/>
        </p:nvSpPr>
        <p:spPr>
          <a:xfrm>
            <a:off x="8077200" y="4810125"/>
            <a:ext cx="3238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Entre los errores más comunes: 22 granulocitos inmaduros predichos como monocitos, 18 como basófilos y 16 monocitos como granulocitos inmaduros.</a:t>
            </a:r>
          </a:p>
        </p:txBody>
      </p:sp>
      <p:sp>
        <p:nvSpPr>
          <p:cNvPr id="43" name="test-count-header">
            <a:extLst>
              <a:ext uri="{FF2B5EF4-FFF2-40B4-BE49-F238E27FC236}">
                <a16:creationId xmlns:a16="http://schemas.microsoft.com/office/drawing/2014/main" id="{4DFC22C6-4D12-4889-AD15-B780C63ACA96}"/>
              </a:ext>
            </a:extLst>
          </p:cNvPr>
          <p:cNvSpPr>
            <a:spLocks noGrp="1"/>
          </p:cNvSpPr>
          <p:nvPr/>
        </p:nvSpPr>
        <p:spPr>
          <a:xfrm>
            <a:off x="4048125" y="17145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536C73"/>
                </a:solidFill>
                <a:latin typeface="Arial"/>
                <a:ea typeface="Arial"/>
                <a:cs typeface="Arial"/>
              </a:rPr>
              <a:t>CANTIDAD</a:t>
            </a:r>
            <a:r>
              <a:rPr lang="es-MX" sz="1050" b="1" dirty="0">
                <a:solidFill>
                  <a:srgbClr val="536C73"/>
                </a:solidFill>
                <a:latin typeface="Arial"/>
                <a:ea typeface="Arial"/>
                <a:cs typeface="Arial"/>
              </a:rPr>
              <a:t> (</a:t>
            </a:r>
            <a:r>
              <a:rPr lang="es-MX" sz="1050" b="1" dirty="0" err="1">
                <a:solidFill>
                  <a:srgbClr val="536C73"/>
                </a:solidFill>
                <a:latin typeface="Arial"/>
                <a:ea typeface="Arial"/>
                <a:cs typeface="Arial"/>
              </a:rPr>
              <a:t>train</a:t>
            </a:r>
            <a:r>
              <a:rPr lang="es-MX" sz="1050" b="1" dirty="0">
                <a:solidFill>
                  <a:srgbClr val="536C73"/>
                </a:solidFill>
                <a:latin typeface="Arial"/>
                <a:ea typeface="Arial"/>
                <a:cs typeface="Arial"/>
              </a:rPr>
              <a:t>)</a:t>
            </a:r>
            <a:endParaRPr sz="1050" b="1" dirty="0">
              <a:solidFill>
                <a:srgbClr val="536C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st-count-immature granulocytes(myelocytes, metamyelocytes and promyelocytes)">
            <a:extLst>
              <a:ext uri="{FF2B5EF4-FFF2-40B4-BE49-F238E27FC236}">
                <a16:creationId xmlns:a16="http://schemas.microsoft.com/office/drawing/2014/main" id="{41602168-24B2-451E-A17A-E8676BBD3B17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2,026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st-count-basophil">
            <a:extLst>
              <a:ext uri="{FF2B5EF4-FFF2-40B4-BE49-F238E27FC236}">
                <a16:creationId xmlns:a16="http://schemas.microsoft.com/office/drawing/2014/main" id="{D2F355FE-53FC-4863-B0D5-A20B90492E72}"/>
              </a:ext>
            </a:extLst>
          </p:cNvPr>
          <p:cNvSpPr>
            <a:spLocks noGrp="1"/>
          </p:cNvSpPr>
          <p:nvPr/>
        </p:nvSpPr>
        <p:spPr>
          <a:xfrm>
            <a:off x="4048125" y="26003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852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st-count-monocyte">
            <a:extLst>
              <a:ext uri="{FF2B5EF4-FFF2-40B4-BE49-F238E27FC236}">
                <a16:creationId xmlns:a16="http://schemas.microsoft.com/office/drawing/2014/main" id="{71AF71B0-8090-4F8C-9350-322E55FEB83E}"/>
              </a:ext>
            </a:extLst>
          </p:cNvPr>
          <p:cNvSpPr>
            <a:spLocks noGrp="1"/>
          </p:cNvSpPr>
          <p:nvPr/>
        </p:nvSpPr>
        <p:spPr>
          <a:xfrm>
            <a:off x="4048125" y="30575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993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st-count-lymphocyte">
            <a:extLst>
              <a:ext uri="{FF2B5EF4-FFF2-40B4-BE49-F238E27FC236}">
                <a16:creationId xmlns:a16="http://schemas.microsoft.com/office/drawing/2014/main" id="{353C0F36-7526-4AA3-8A67-6523DD993E6B}"/>
              </a:ext>
            </a:extLst>
          </p:cNvPr>
          <p:cNvSpPr>
            <a:spLocks noGrp="1"/>
          </p:cNvSpPr>
          <p:nvPr/>
        </p:nvSpPr>
        <p:spPr>
          <a:xfrm>
            <a:off x="4048125" y="35147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849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st-count-erythroblast">
            <a:extLst>
              <a:ext uri="{FF2B5EF4-FFF2-40B4-BE49-F238E27FC236}">
                <a16:creationId xmlns:a16="http://schemas.microsoft.com/office/drawing/2014/main" id="{5F43227A-0DEB-4771-B3E5-1AB46AB1E875}"/>
              </a:ext>
            </a:extLst>
          </p:cNvPr>
          <p:cNvSpPr>
            <a:spLocks noGrp="1"/>
          </p:cNvSpPr>
          <p:nvPr/>
        </p:nvSpPr>
        <p:spPr>
          <a:xfrm>
            <a:off x="4048125" y="39719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1,085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st-count-neutrophil">
            <a:extLst>
              <a:ext uri="{FF2B5EF4-FFF2-40B4-BE49-F238E27FC236}">
                <a16:creationId xmlns:a16="http://schemas.microsoft.com/office/drawing/2014/main" id="{79F4AB6D-646D-4D18-8210-5E4481D22D10}"/>
              </a:ext>
            </a:extLst>
          </p:cNvPr>
          <p:cNvSpPr>
            <a:spLocks noGrp="1"/>
          </p:cNvSpPr>
          <p:nvPr/>
        </p:nvSpPr>
        <p:spPr>
          <a:xfrm>
            <a:off x="4048125" y="44291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/>
              <a:t>2,330</a:t>
            </a:r>
            <a:endParaRPr sz="1500" b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st-count-eosinophil">
            <a:extLst>
              <a:ext uri="{FF2B5EF4-FFF2-40B4-BE49-F238E27FC236}">
                <a16:creationId xmlns:a16="http://schemas.microsoft.com/office/drawing/2014/main" id="{9678FAAB-00F9-4767-9052-456F472CB39C}"/>
              </a:ext>
            </a:extLst>
          </p:cNvPr>
          <p:cNvSpPr>
            <a:spLocks noGrp="1"/>
          </p:cNvSpPr>
          <p:nvPr/>
        </p:nvSpPr>
        <p:spPr>
          <a:xfrm>
            <a:off x="4048125" y="48863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2,181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st-count-platelet">
            <a:extLst>
              <a:ext uri="{FF2B5EF4-FFF2-40B4-BE49-F238E27FC236}">
                <a16:creationId xmlns:a16="http://schemas.microsoft.com/office/drawing/2014/main" id="{D7C9A46D-3A80-42D8-A504-CE50E92AB3CB}"/>
              </a:ext>
            </a:extLst>
          </p:cNvPr>
          <p:cNvSpPr>
            <a:spLocks noGrp="1"/>
          </p:cNvSpPr>
          <p:nvPr/>
        </p:nvSpPr>
        <p:spPr>
          <a:xfrm>
            <a:off x="4048125" y="534352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lang="es-CO" dirty="0"/>
              <a:t>1,643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87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FF82B4C2-0A81-4552-BC6A-D9FD092AE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4F0185-3F33-4584-BE4B-999B612E21C7}"/>
              </a:ext>
            </a:extLst>
          </p:cNvPr>
          <p:cNvSpPr>
            <a:spLocks noGrp="1"/>
          </p:cNvSpPr>
          <p:nvPr/>
        </p:nvSpPr>
        <p:spPr>
          <a:xfrm>
            <a:off x="408281" y="255494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lnSpc>
                <a:spcPct val="105000"/>
              </a:lnSpc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lang="es-MX" sz="3150" b="1" dirty="0">
                <a:solidFill>
                  <a:srgbClr val="102A36"/>
                </a:solidFill>
                <a:latin typeface="Arial"/>
                <a:ea typeface="Arial"/>
                <a:cs typeface="Arial"/>
              </a:rPr>
              <a:t>Test final y errores por clase</a:t>
            </a:r>
          </a:p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endParaRPr lang="es-MX" sz="3150" b="1" dirty="0">
              <a:solidFill>
                <a:srgbClr val="102A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F5A7DC-30F0-4D01-A9CD-1817A1F32726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3A50D-6228-4981-AA70-56248E1847B8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B3866E-BD8B-4028-948B-C9E3D3AC19D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12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FF57A21C-D1FA-4C03-9790-B90B3FD7DF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9" b="48227"/>
          <a:stretch/>
        </p:blipFill>
        <p:spPr>
          <a:xfrm>
            <a:off x="471973" y="1028466"/>
            <a:ext cx="3233284" cy="5096109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71F8AAD-4A75-4007-9870-B5C598E573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44"/>
          <a:stretch/>
        </p:blipFill>
        <p:spPr>
          <a:xfrm>
            <a:off x="8582585" y="990600"/>
            <a:ext cx="3288130" cy="5153258"/>
          </a:xfrm>
          <a:prstGeom prst="rect">
            <a:avLst/>
          </a:prstGeom>
        </p:spPr>
      </p:pic>
      <p:sp>
        <p:nvSpPr>
          <p:cNvPr id="48" name="Rectángulo 47">
            <a:extLst>
              <a:ext uri="{FF2B5EF4-FFF2-40B4-BE49-F238E27FC236}">
                <a16:creationId xmlns:a16="http://schemas.microsoft.com/office/drawing/2014/main" id="{0CCF942C-D79B-46D8-AA61-32442CCBAE23}"/>
              </a:ext>
            </a:extLst>
          </p:cNvPr>
          <p:cNvSpPr>
            <a:spLocks noGrp="1"/>
          </p:cNvSpPr>
          <p:nvPr/>
        </p:nvSpPr>
        <p:spPr>
          <a:xfrm>
            <a:off x="4112559" y="15621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CLASE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7919590-DA88-48F5-B1A6-861186922949}"/>
              </a:ext>
            </a:extLst>
          </p:cNvPr>
          <p:cNvSpPr>
            <a:spLocks noGrp="1"/>
          </p:cNvSpPr>
          <p:nvPr/>
        </p:nvSpPr>
        <p:spPr>
          <a:xfrm>
            <a:off x="5683624" y="1574987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536C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8591401-FCE9-4CA6-BB8E-875BDB14FC7C}"/>
              </a:ext>
            </a:extLst>
          </p:cNvPr>
          <p:cNvSpPr>
            <a:spLocks noGrp="1"/>
          </p:cNvSpPr>
          <p:nvPr/>
        </p:nvSpPr>
        <p:spPr>
          <a:xfrm flipV="1">
            <a:off x="4093509" y="1840231"/>
            <a:ext cx="3114115" cy="45719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2BB09EA-4C36-4A85-A2EE-31B8AA272F6D}"/>
              </a:ext>
            </a:extLst>
          </p:cNvPr>
          <p:cNvSpPr>
            <a:spLocks noGrp="1"/>
          </p:cNvSpPr>
          <p:nvPr/>
        </p:nvSpPr>
        <p:spPr>
          <a:xfrm>
            <a:off x="4150659" y="1990725"/>
            <a:ext cx="33075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C85E3A"/>
                </a:solidFill>
                <a:latin typeface="Arial"/>
                <a:ea typeface="Arial"/>
                <a:cs typeface="Arial"/>
              </a:rPr>
              <a:t>Granulocitos</a:t>
            </a:r>
            <a:r>
              <a:rPr sz="1500" b="1" dirty="0">
                <a:solidFill>
                  <a:srgbClr val="C85E3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85E3A"/>
                </a:solidFill>
                <a:latin typeface="Arial"/>
                <a:ea typeface="Arial"/>
                <a:cs typeface="Arial"/>
              </a:rPr>
              <a:t>inmaduros</a:t>
            </a:r>
            <a:endParaRPr sz="1500" b="1" dirty="0">
              <a:solidFill>
                <a:srgbClr val="C85E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CFDC53A-6E27-43F5-A39A-007365B017F3}"/>
              </a:ext>
            </a:extLst>
          </p:cNvPr>
          <p:cNvSpPr>
            <a:spLocks noGrp="1"/>
          </p:cNvSpPr>
          <p:nvPr/>
        </p:nvSpPr>
        <p:spPr>
          <a:xfrm>
            <a:off x="5683624" y="20036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C85E3A"/>
                </a:solidFill>
                <a:latin typeface="Arial"/>
                <a:ea typeface="Arial"/>
                <a:cs typeface="Arial"/>
              </a:rPr>
              <a:t>88.4%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A908F8B-C854-4F1E-8989-E7F1163740B3}"/>
              </a:ext>
            </a:extLst>
          </p:cNvPr>
          <p:cNvSpPr>
            <a:spLocks noGrp="1"/>
          </p:cNvSpPr>
          <p:nvPr/>
        </p:nvSpPr>
        <p:spPr>
          <a:xfrm flipV="1">
            <a:off x="4093509" y="22974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BA80D84-9138-4D7D-8E2E-EE5ED1821D0B}"/>
              </a:ext>
            </a:extLst>
          </p:cNvPr>
          <p:cNvSpPr>
            <a:spLocks noGrp="1"/>
          </p:cNvSpPr>
          <p:nvPr/>
        </p:nvSpPr>
        <p:spPr>
          <a:xfrm>
            <a:off x="4150659" y="2447925"/>
            <a:ext cx="33075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Basófilos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145FBFC-5128-48C7-8316-88B9D69FED1D}"/>
              </a:ext>
            </a:extLst>
          </p:cNvPr>
          <p:cNvSpPr>
            <a:spLocks noGrp="1"/>
          </p:cNvSpPr>
          <p:nvPr/>
        </p:nvSpPr>
        <p:spPr>
          <a:xfrm>
            <a:off x="5683624" y="24608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90.6%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AFBC642-D4E9-41E6-B013-F22BCA098495}"/>
              </a:ext>
            </a:extLst>
          </p:cNvPr>
          <p:cNvSpPr>
            <a:spLocks noGrp="1"/>
          </p:cNvSpPr>
          <p:nvPr/>
        </p:nvSpPr>
        <p:spPr>
          <a:xfrm flipV="1">
            <a:off x="4093509" y="27546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2E9C0BE1-7966-4AF7-9222-50256BFE41CF}"/>
              </a:ext>
            </a:extLst>
          </p:cNvPr>
          <p:cNvSpPr>
            <a:spLocks noGrp="1"/>
          </p:cNvSpPr>
          <p:nvPr/>
        </p:nvSpPr>
        <p:spPr>
          <a:xfrm>
            <a:off x="4150659" y="2905125"/>
            <a:ext cx="323328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C85E3A"/>
                </a:solidFill>
                <a:latin typeface="Arial"/>
                <a:ea typeface="Arial"/>
                <a:cs typeface="Arial"/>
              </a:rPr>
              <a:t>Monocitos</a:t>
            </a:r>
            <a:endParaRPr sz="1500" b="1" dirty="0">
              <a:solidFill>
                <a:srgbClr val="C85E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3CCF2CAF-4EF2-438B-89CA-29AE3E1D3956}"/>
              </a:ext>
            </a:extLst>
          </p:cNvPr>
          <p:cNvSpPr>
            <a:spLocks noGrp="1"/>
          </p:cNvSpPr>
          <p:nvPr/>
        </p:nvSpPr>
        <p:spPr>
          <a:xfrm>
            <a:off x="5683624" y="29180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91.2%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411784D-5FEC-4DA1-8139-AC7DC4C6F87E}"/>
              </a:ext>
            </a:extLst>
          </p:cNvPr>
          <p:cNvSpPr>
            <a:spLocks noGrp="1"/>
          </p:cNvSpPr>
          <p:nvPr/>
        </p:nvSpPr>
        <p:spPr>
          <a:xfrm flipV="1">
            <a:off x="4093509" y="32118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CC2F96F0-2A78-4C3D-AB1A-934E99E56571}"/>
              </a:ext>
            </a:extLst>
          </p:cNvPr>
          <p:cNvSpPr>
            <a:spLocks noGrp="1"/>
          </p:cNvSpPr>
          <p:nvPr/>
        </p:nvSpPr>
        <p:spPr>
          <a:xfrm>
            <a:off x="4150659" y="3362325"/>
            <a:ext cx="323328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8323B"/>
                </a:solidFill>
                <a:latin typeface="Arial"/>
                <a:ea typeface="Arial"/>
                <a:cs typeface="Arial"/>
              </a:rPr>
              <a:t>Linfocitos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0D48AE51-0324-40AB-8693-15B17EDA03A5}"/>
              </a:ext>
            </a:extLst>
          </p:cNvPr>
          <p:cNvSpPr>
            <a:spLocks noGrp="1"/>
          </p:cNvSpPr>
          <p:nvPr/>
        </p:nvSpPr>
        <p:spPr>
          <a:xfrm>
            <a:off x="5683624" y="33752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93.0%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FC9D123-ED41-4D97-A6CA-4363AB85F1BF}"/>
              </a:ext>
            </a:extLst>
          </p:cNvPr>
          <p:cNvSpPr>
            <a:spLocks noGrp="1"/>
          </p:cNvSpPr>
          <p:nvPr/>
        </p:nvSpPr>
        <p:spPr>
          <a:xfrm flipV="1">
            <a:off x="4093509" y="36690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D46D970F-46FF-4A3D-893D-82B234D417FC}"/>
              </a:ext>
            </a:extLst>
          </p:cNvPr>
          <p:cNvSpPr>
            <a:spLocks noGrp="1"/>
          </p:cNvSpPr>
          <p:nvPr/>
        </p:nvSpPr>
        <p:spPr>
          <a:xfrm>
            <a:off x="4150659" y="3819525"/>
            <a:ext cx="328813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8323B"/>
                </a:solidFill>
                <a:latin typeface="Arial"/>
                <a:ea typeface="Arial"/>
                <a:cs typeface="Arial"/>
              </a:rPr>
              <a:t>Eritroblastos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31856D3-0E9D-4BA2-85F3-2CE51359684E}"/>
              </a:ext>
            </a:extLst>
          </p:cNvPr>
          <p:cNvSpPr>
            <a:spLocks noGrp="1"/>
          </p:cNvSpPr>
          <p:nvPr/>
        </p:nvSpPr>
        <p:spPr>
          <a:xfrm>
            <a:off x="5683624" y="38324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96.1%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0494ED4-746F-4069-938E-3DD32C339FA8}"/>
              </a:ext>
            </a:extLst>
          </p:cNvPr>
          <p:cNvSpPr>
            <a:spLocks noGrp="1"/>
          </p:cNvSpPr>
          <p:nvPr/>
        </p:nvSpPr>
        <p:spPr>
          <a:xfrm flipV="1">
            <a:off x="4093509" y="41262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782AD51B-AEF6-4657-84F5-D6DD818A0575}"/>
              </a:ext>
            </a:extLst>
          </p:cNvPr>
          <p:cNvSpPr>
            <a:spLocks noGrp="1"/>
          </p:cNvSpPr>
          <p:nvPr/>
        </p:nvSpPr>
        <p:spPr>
          <a:xfrm>
            <a:off x="4150659" y="4276725"/>
            <a:ext cx="3233284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8323B"/>
                </a:solidFill>
                <a:latin typeface="Arial"/>
                <a:ea typeface="Arial"/>
                <a:cs typeface="Arial"/>
              </a:rPr>
              <a:t>Neutrófilos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E5FE8E2C-B197-4A95-AC26-1BF74F9B25EC}"/>
              </a:ext>
            </a:extLst>
          </p:cNvPr>
          <p:cNvSpPr>
            <a:spLocks noGrp="1"/>
          </p:cNvSpPr>
          <p:nvPr/>
        </p:nvSpPr>
        <p:spPr>
          <a:xfrm>
            <a:off x="5683624" y="42896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97.7%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C5809D49-285E-4350-B4C8-BEA47511DC75}"/>
              </a:ext>
            </a:extLst>
          </p:cNvPr>
          <p:cNvSpPr>
            <a:spLocks noGrp="1"/>
          </p:cNvSpPr>
          <p:nvPr/>
        </p:nvSpPr>
        <p:spPr>
          <a:xfrm flipV="1">
            <a:off x="4093509" y="45834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8840E85-14E1-4A15-B463-A79DC7EBA1D8}"/>
              </a:ext>
            </a:extLst>
          </p:cNvPr>
          <p:cNvSpPr>
            <a:spLocks noGrp="1"/>
          </p:cNvSpPr>
          <p:nvPr/>
        </p:nvSpPr>
        <p:spPr>
          <a:xfrm>
            <a:off x="4150659" y="4733925"/>
            <a:ext cx="311411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8323B"/>
                </a:solidFill>
                <a:latin typeface="Arial"/>
                <a:ea typeface="Arial"/>
                <a:cs typeface="Arial"/>
              </a:rPr>
              <a:t>Eosinófilos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7495FDA2-F126-4899-9852-FF00F1A207B4}"/>
              </a:ext>
            </a:extLst>
          </p:cNvPr>
          <p:cNvSpPr>
            <a:spLocks noGrp="1"/>
          </p:cNvSpPr>
          <p:nvPr/>
        </p:nvSpPr>
        <p:spPr>
          <a:xfrm>
            <a:off x="5683624" y="47468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98.9%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70415E3A-E701-4B94-84B5-8C4EE7C6F3EF}"/>
              </a:ext>
            </a:extLst>
          </p:cNvPr>
          <p:cNvSpPr>
            <a:spLocks noGrp="1"/>
          </p:cNvSpPr>
          <p:nvPr/>
        </p:nvSpPr>
        <p:spPr>
          <a:xfrm flipV="1">
            <a:off x="4093509" y="50406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5C8DF3CD-E31B-4175-830C-5B8F536DBC1E}"/>
              </a:ext>
            </a:extLst>
          </p:cNvPr>
          <p:cNvSpPr>
            <a:spLocks noGrp="1"/>
          </p:cNvSpPr>
          <p:nvPr/>
        </p:nvSpPr>
        <p:spPr>
          <a:xfrm>
            <a:off x="4150659" y="5191125"/>
            <a:ext cx="311411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8323B"/>
                </a:solidFill>
                <a:latin typeface="Arial"/>
                <a:ea typeface="Arial"/>
                <a:cs typeface="Arial"/>
              </a:rPr>
              <a:t>Plaquetas</a:t>
            </a:r>
            <a:endParaRPr sz="1500" b="0" dirty="0">
              <a:solidFill>
                <a:srgbClr val="1832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5C2D80E-A92E-4BE5-982B-4078EE55D834}"/>
              </a:ext>
            </a:extLst>
          </p:cNvPr>
          <p:cNvSpPr>
            <a:spLocks noGrp="1"/>
          </p:cNvSpPr>
          <p:nvPr/>
        </p:nvSpPr>
        <p:spPr>
          <a:xfrm>
            <a:off x="5683624" y="520401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0A2EA41-9A1C-46E2-ABF1-87D989F69747}"/>
              </a:ext>
            </a:extLst>
          </p:cNvPr>
          <p:cNvSpPr>
            <a:spLocks noGrp="1"/>
          </p:cNvSpPr>
          <p:nvPr/>
        </p:nvSpPr>
        <p:spPr>
          <a:xfrm flipV="1">
            <a:off x="4093509" y="5497831"/>
            <a:ext cx="3114115" cy="45719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913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28A8C6E9-6386-4354-9E25-0EE5C42AFD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784F30-2F13-4A78-8134-2C92E683A4E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Matriz de confusión de A3 en test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73ABAF-95B2-4241-9BCA-B091127941DE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3,421 imágenes · evaluación final realizada una sola vez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0774474-B9EF-40B2-8050-88F568F75748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023F0E-97CF-438B-B5CA-F18143A07CC9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F5296D7-016E-4CE2-B8A2-1457AD226B5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E8DFD1-65A4-4048-8A28-412880A1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4566" y="1466850"/>
            <a:ext cx="5913818" cy="45148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FDC4F64-FCE5-41C0-9983-54D16ACE3F5E}"/>
              </a:ext>
            </a:extLst>
          </p:cNvPr>
          <p:cNvSpPr>
            <a:spLocks noGrp="1"/>
          </p:cNvSpPr>
          <p:nvPr/>
        </p:nvSpPr>
        <p:spPr>
          <a:xfrm>
            <a:off x="8096250" y="1590675"/>
            <a:ext cx="19050" cy="402907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AA000E-EEA8-4883-A2D6-297363CC07D3}"/>
              </a:ext>
            </a:extLst>
          </p:cNvPr>
          <p:cNvSpPr>
            <a:spLocks noGrp="1"/>
          </p:cNvSpPr>
          <p:nvPr/>
        </p:nvSpPr>
        <p:spPr>
          <a:xfrm>
            <a:off x="8410575" y="17526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Exactitud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609BE6-98A3-41DB-81DF-C609BA2A4036}"/>
              </a:ext>
            </a:extLst>
          </p:cNvPr>
          <p:cNvSpPr>
            <a:spLocks noGrp="1"/>
          </p:cNvSpPr>
          <p:nvPr/>
        </p:nvSpPr>
        <p:spPr>
          <a:xfrm>
            <a:off x="8410575" y="2076450"/>
            <a:ext cx="2857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2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95.15%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57A063F-7F99-4D1F-995F-33136C09734F}"/>
              </a:ext>
            </a:extLst>
          </p:cNvPr>
          <p:cNvSpPr>
            <a:spLocks noGrp="1"/>
          </p:cNvSpPr>
          <p:nvPr/>
        </p:nvSpPr>
        <p:spPr>
          <a:xfrm>
            <a:off x="8410575" y="28384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F390AF9-8729-40EF-8244-A1BC0504274E}"/>
              </a:ext>
            </a:extLst>
          </p:cNvPr>
          <p:cNvSpPr>
            <a:spLocks noGrp="1"/>
          </p:cNvSpPr>
          <p:nvPr/>
        </p:nvSpPr>
        <p:spPr>
          <a:xfrm>
            <a:off x="8410575" y="3162300"/>
            <a:ext cx="2857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2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94.45%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7990855-852F-427E-9856-60F24CE24E35}"/>
              </a:ext>
            </a:extLst>
          </p:cNvPr>
          <p:cNvSpPr>
            <a:spLocks noGrp="1"/>
          </p:cNvSpPr>
          <p:nvPr/>
        </p:nvSpPr>
        <p:spPr>
          <a:xfrm>
            <a:off x="8410575" y="40100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Errores más frecuentes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DF6719A-06EC-448F-A8AD-FAA65434D21E}"/>
              </a:ext>
            </a:extLst>
          </p:cNvPr>
          <p:cNvSpPr>
            <a:spLocks noGrp="1"/>
          </p:cNvSpPr>
          <p:nvPr/>
        </p:nvSpPr>
        <p:spPr>
          <a:xfrm>
            <a:off x="8410575" y="440055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10" lnSpcReduction="10000"/>
          </a:bodyPr>
          <a:lstStyle>
            <a:defPPr algn="l">
              <a:defRPr sz="12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3000"/>
              </a:lnSpc>
              <a:buNone/>
              <a:defRPr sz="12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22 granulocitos inmaduros clasificados como monocitos</a:t>
            </a:r>
          </a:p>
          <a:p>
            <a:pPr algn="l">
              <a:lnSpc>
                <a:spcPct val="113000"/>
              </a:lnSpc>
              <a:buNone/>
              <a:defRPr sz="12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18 granulocitos inmaduros clasificados como basófilos</a:t>
            </a:r>
          </a:p>
          <a:p>
            <a:pPr algn="l">
              <a:lnSpc>
                <a:spcPct val="113000"/>
              </a:lnSpc>
              <a:buNone/>
              <a:defRPr sz="12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16 monocitos clasificados como granulocitos inmaduros</a:t>
            </a:r>
          </a:p>
        </p:txBody>
      </p:sp>
    </p:spTree>
    <p:extLst>
      <p:ext uri="{BB962C8B-B14F-4D97-AF65-F5344CB8AC3E}">
        <p14:creationId xmlns:p14="http://schemas.microsoft.com/office/powerpoint/2010/main" val="195474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4A73078-5E5B-4A13-ACB1-977DFB50F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8C87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69DBFA-F7E6-446D-8CDA-0E913E1E21C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Conclusiones y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598F05-4800-4356-8B76-38AE69FA6C3C}"/>
              </a:ext>
            </a:extLst>
          </p:cNvPr>
          <p:cNvSpPr>
            <a:spLocks noGrp="1"/>
          </p:cNvSpPr>
          <p:nvPr/>
        </p:nvSpPr>
        <p:spPr>
          <a:xfrm>
            <a:off x="628650" y="10382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Hallazgos de estas corridas, con sus límites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1756BBC-A8F0-4622-BD1A-8D6B42462320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934700" cy="9525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5F63C6-10DE-4DB4-973E-0929EDF5D71A}"/>
              </a:ext>
            </a:extLst>
          </p:cNvPr>
          <p:cNvSpPr>
            <a:spLocks noGrp="1"/>
          </p:cNvSpPr>
          <p:nvPr/>
        </p:nvSpPr>
        <p:spPr>
          <a:xfrm>
            <a:off x="628650" y="6362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698741-FE76-49C3-964D-7A4AD7DE066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lang="es-MX" sz="1200" b="1" dirty="0">
                <a:solidFill>
                  <a:srgbClr val="178C87"/>
                </a:solidFill>
                <a:latin typeface="Arial"/>
                <a:ea typeface="Arial"/>
                <a:cs typeface="Arial"/>
              </a:rPr>
              <a:t>14</a:t>
            </a:r>
            <a:endParaRPr sz="1200" b="1" dirty="0">
              <a:solidFill>
                <a:srgbClr val="178C8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804EB5-73CD-4806-A8B4-6C7F2075A71C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Qué muestran los resultados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C820C9-17F6-4744-A6B0-D1723E1305D7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BatchNorm coincidió con la mejora más clara frente a A1.</a:t>
            </a:r>
          </a:p>
          <a:p>
            <a:endParaRPr sz="1650" b="0">
              <a:solidFill>
                <a:srgbClr val="1832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A3 obtuvo el mejor valor de validación, pero su ventaja frente a A2 fue marginal.</a:t>
            </a:r>
          </a:p>
          <a:p>
            <a:endParaRPr sz="1650" b="0">
              <a:solidFill>
                <a:srgbClr val="1832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sin BatchNorm casi no cambió el macro-F1.</a:t>
            </a:r>
          </a:p>
          <a:p>
            <a:endParaRPr sz="1650" b="0">
              <a:solidFill>
                <a:srgbClr val="1832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La tasa menor no igualó la línea base dentro de 40 épocas.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1E8C65-EDCF-4195-B85D-1AA509D31980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19050" cy="3810000"/>
          </a:xfrm>
          <a:prstGeom prst="rect">
            <a:avLst/>
          </a:prstGeom>
          <a:solidFill>
            <a:srgbClr val="C8D7D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3621DD-4FA1-4287-B73C-177C8B704435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Qué podemos concluir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EEAE7DC-D73F-43FB-8141-05EF8FBB3084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494"/>
          </a:bodyPr>
          <a:lstStyle>
            <a:defPPr algn="l">
              <a:defRPr sz="18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Para estos runs, BatchNorm se asoció con un mejor desempeño de validación. Combinarlo con Dropout dio el mejor resultado observado, aunque la diferencia frente a BatchNorm solo fue pequeña.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7F2883-6E22-4B6A-825E-6A7EA22B5649}"/>
              </a:ext>
            </a:extLst>
          </p:cNvPr>
          <p:cNvSpPr>
            <a:spLocks noGrp="1"/>
          </p:cNvSpPr>
          <p:nvPr/>
        </p:nvSpPr>
        <p:spPr>
          <a:xfrm>
            <a:off x="6572250" y="4114800"/>
            <a:ext cx="4381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Alcance: una corrida por escenario, semilla 42 y hasta 40 épocas. Test se evaluó solo con A3. No medimos variación entre semillas ni comparamos modelos en test.</a:t>
            </a:r>
          </a:p>
        </p:txBody>
      </p:sp>
    </p:spTree>
    <p:extLst>
      <p:ext uri="{BB962C8B-B14F-4D97-AF65-F5344CB8AC3E}">
        <p14:creationId xmlns:p14="http://schemas.microsoft.com/office/powerpoint/2010/main" val="20350230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1846</Words>
  <Application>Microsoft Office PowerPoint</Application>
  <DocSecurity>0</DocSecurity>
  <PresentationFormat>Panorámica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Santiago Alberto Lugo Camacho</cp:lastModifiedBy>
  <cp:revision>3</cp:revision>
  <dcterms:created xsi:type="dcterms:W3CDTF">2026-10-16T12:50:26Z</dcterms:created>
  <dcterms:modified xsi:type="dcterms:W3CDTF">2026-10-16T13:38:40Z</dcterms:modified>
</cp:coreProperties>
</file>